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73" r:id="rId3"/>
    <p:sldId id="258" r:id="rId4"/>
    <p:sldId id="259" r:id="rId5"/>
    <p:sldId id="256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74" r:id="rId17"/>
    <p:sldId id="25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2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8462" y="1872718"/>
            <a:ext cx="11110995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it-IT" sz="3600" b="1" dirty="0">
                <a:solidFill>
                  <a:schemeClr val="bg1"/>
                </a:solidFill>
                <a:latin typeface="Aptos" panose="020B0004020202020204" pitchFamily="34" charset="0"/>
              </a:rPr>
              <a:t>Implementazione di un comportamento di
Trail Following </a:t>
            </a:r>
            <a:r>
              <a:rPr lang="it-IT" sz="3600" b="1" dirty="0" err="1">
                <a:solidFill>
                  <a:schemeClr val="bg1"/>
                </a:solidFill>
                <a:latin typeface="Aptos" panose="020B0004020202020204" pitchFamily="34" charset="0"/>
              </a:rPr>
              <a:t>bioispirato</a:t>
            </a:r>
            <a:r>
              <a:rPr lang="it-IT" sz="3600" b="1" dirty="0">
                <a:solidFill>
                  <a:schemeClr val="bg1"/>
                </a:solidFill>
                <a:latin typeface="Aptos" panose="020B0004020202020204" pitchFamily="34" charset="0"/>
              </a:rPr>
              <a:t> mediante SNN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462" y="3071558"/>
            <a:ext cx="879043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it-IT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Ricreare il comportamento di una formica in un robot simulato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4D526E5-CCC5-4AE2-2A02-97A7842F3F34}"/>
              </a:ext>
            </a:extLst>
          </p:cNvPr>
          <p:cNvSpPr txBox="1"/>
          <p:nvPr/>
        </p:nvSpPr>
        <p:spPr>
          <a:xfrm>
            <a:off x="701802" y="1373163"/>
            <a:ext cx="6211062" cy="287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Lato" pitchFamily="34" charset="0"/>
                <a:ea typeface="Lato" pitchFamily="34" charset="-122"/>
                <a:cs typeface="Lato" pitchFamily="34" charset="-120"/>
              </a:rPr>
              <a:t>UNIVERSITÀ DEGLI STUDI DI MESSINA  DIP. DI INGEGNERIA — BIOINGEGNERIA LM-21</a:t>
            </a:r>
            <a:endParaRPr kumimoji="0" 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22" name="Image 2" descr="Immagine che contiene testo, emblema, Marchio, cerchio  Il contenuto generato dall'IA potrebbe non essere corretto.">
            <a:extLst>
              <a:ext uri="{FF2B5EF4-FFF2-40B4-BE49-F238E27FC236}">
                <a16:creationId xmlns:a16="http://schemas.microsoft.com/office/drawing/2014/main" id="{ED54753B-8865-CB2D-5D5E-B7A9E7C5604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515600" y="226494"/>
            <a:ext cx="1326915" cy="1222272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E3D64401-2CC4-B615-6B9B-D9A7AA5187FF}"/>
              </a:ext>
            </a:extLst>
          </p:cNvPr>
          <p:cNvSpPr txBox="1"/>
          <p:nvPr/>
        </p:nvSpPr>
        <p:spPr>
          <a:xfrm>
            <a:off x="701802" y="3746114"/>
            <a:ext cx="6094476" cy="315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itchFamily="34" charset="0"/>
                <a:ea typeface="Lato" pitchFamily="34" charset="-122"/>
                <a:cs typeface="Lato" pitchFamily="34" charset="-120"/>
              </a:rPr>
              <a:t>Scritto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" pitchFamily="34" charset="0"/>
                <a:ea typeface="Lato" pitchFamily="34" charset="-122"/>
                <a:cs typeface="Lato" pitchFamily="34" charset="-120"/>
              </a:rPr>
              <a:t> da: Claudio Giacobbe</a:t>
            </a:r>
            <a:endParaRPr kumimoji="0" lang="en-US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2" name="Immagine 31">
            <a:extLst>
              <a:ext uri="{FF2B5EF4-FFF2-40B4-BE49-F238E27FC236}">
                <a16:creationId xmlns:a16="http://schemas.microsoft.com/office/drawing/2014/main" id="{714BA2B3-F91C-BCC0-37FF-6AF722420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5651738"/>
            <a:ext cx="301752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179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23A"/>
                </a:solidFill>
                <a:latin typeface="Aptos"/>
              </a:rPr>
              <a:t>1.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Ispirazione</a:t>
            </a:r>
            <a:r>
              <a:rPr sz="27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biologica</a:t>
            </a:r>
            <a:endParaRPr sz="2700" b="1" dirty="0">
              <a:solidFill>
                <a:srgbClr val="14223A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5C6775"/>
                </a:solidFill>
                <a:latin typeface="Aptos"/>
              </a:rPr>
              <a:t>Dal trail following delle </a:t>
            </a:r>
            <a:r>
              <a:rPr sz="1100" b="0" dirty="0" err="1">
                <a:solidFill>
                  <a:srgbClr val="5C6775"/>
                </a:solidFill>
                <a:latin typeface="Aptos"/>
              </a:rPr>
              <a:t>formiche</a:t>
            </a:r>
            <a:r>
              <a:rPr sz="1100" b="0" dirty="0">
                <a:solidFill>
                  <a:srgbClr val="5C6775"/>
                </a:solidFill>
                <a:latin typeface="Aptos"/>
              </a:rPr>
              <a:t> alla </a:t>
            </a:r>
            <a:r>
              <a:rPr sz="1100" b="0" dirty="0" err="1">
                <a:solidFill>
                  <a:srgbClr val="5C6775"/>
                </a:solidFill>
                <a:latin typeface="Aptos"/>
              </a:rPr>
              <a:t>macchina</a:t>
            </a:r>
            <a:endParaRPr sz="1100" b="0" dirty="0">
              <a:solidFill>
                <a:srgbClr val="5C6775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64008" cy="4160520"/>
          </a:xfrm>
          <a:prstGeom prst="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27631"/>
            <a:ext cx="3108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4223A"/>
                </a:solidFill>
                <a:latin typeface="Aptos"/>
              </a:rPr>
              <a:t>FORMICA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039112"/>
            <a:ext cx="3108960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 err="1">
                <a:solidFill>
                  <a:srgbClr val="1F2937"/>
                </a:solidFill>
                <a:latin typeface="Aptos"/>
              </a:rPr>
              <a:t>Percepisce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una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traccia</a:t>
            </a:r>
            <a:r>
              <a:rPr lang="it-IT" sz="1800" b="0" dirty="0">
                <a:solidFill>
                  <a:srgbClr val="1F2937"/>
                </a:solidFill>
                <a:latin typeface="Aptos"/>
              </a:rPr>
              <a:t> di feromoni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
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Elabora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gli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stimoli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
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Modifica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 il 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comportamento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
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Mantiene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 la 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traiettoria</a:t>
            </a:r>
            <a:endParaRPr sz="18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64008" cy="4160520"/>
          </a:xfrm>
          <a:prstGeom prst="rect">
            <a:avLst/>
          </a:prstGeom>
          <a:solidFill>
            <a:srgbClr val="CD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627631"/>
            <a:ext cx="3108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dirty="0">
                <a:solidFill>
                  <a:srgbClr val="14223A"/>
                </a:solidFill>
                <a:latin typeface="Aptos"/>
              </a:rPr>
              <a:t>MODELLO</a:t>
            </a:r>
            <a:r>
              <a:rPr sz="1600" b="1" dirty="0">
                <a:solidFill>
                  <a:srgbClr val="14223A"/>
                </a:solidFill>
                <a:latin typeface="Aptos"/>
              </a:rPr>
              <a:t> </a:t>
            </a:r>
            <a:r>
              <a:rPr b="1" dirty="0">
                <a:solidFill>
                  <a:srgbClr val="14223A"/>
                </a:solidFill>
                <a:latin typeface="Aptos"/>
              </a:rPr>
              <a:t>ASTRATTO</a:t>
            </a:r>
            <a:endParaRPr sz="1600" b="1" dirty="0">
              <a:solidFill>
                <a:srgbClr val="14223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2039112"/>
            <a:ext cx="3108960" cy="35387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dirty="0" err="1">
                <a:solidFill>
                  <a:srgbClr val="1F2937"/>
                </a:solidFill>
                <a:latin typeface="Aptos"/>
              </a:rPr>
              <a:t>Percezione</a:t>
            </a:r>
            <a:r>
              <a:rPr sz="1900" b="0" dirty="0">
                <a:solidFill>
                  <a:srgbClr val="1F2937"/>
                </a:solidFill>
                <a:latin typeface="Aptos"/>
              </a:rPr>
              <a:t>
↓
</a:t>
            </a:r>
            <a:r>
              <a:rPr sz="1900" b="0" dirty="0" err="1">
                <a:solidFill>
                  <a:srgbClr val="1F2937"/>
                </a:solidFill>
                <a:latin typeface="Aptos"/>
              </a:rPr>
              <a:t>Elaborazione</a:t>
            </a:r>
            <a:r>
              <a:rPr sz="1900" b="0" dirty="0">
                <a:solidFill>
                  <a:srgbClr val="1F2937"/>
                </a:solidFill>
                <a:latin typeface="Aptos"/>
              </a:rPr>
              <a:t>
↓
</a:t>
            </a:r>
            <a:r>
              <a:rPr sz="1900" b="0" dirty="0" err="1">
                <a:solidFill>
                  <a:srgbClr val="1F2937"/>
                </a:solidFill>
                <a:latin typeface="Aptos"/>
              </a:rPr>
              <a:t>Decisione</a:t>
            </a:r>
            <a:r>
              <a:rPr sz="1900" b="0" dirty="0">
                <a:solidFill>
                  <a:srgbClr val="1F2937"/>
                </a:solidFill>
                <a:latin typeface="Aptos"/>
              </a:rPr>
              <a:t>
↓
</a:t>
            </a:r>
            <a:r>
              <a:rPr sz="1900" b="0" dirty="0" err="1">
                <a:solidFill>
                  <a:srgbClr val="1F2937"/>
                </a:solidFill>
                <a:latin typeface="Aptos"/>
              </a:rPr>
              <a:t>Movimento</a:t>
            </a:r>
            <a:endParaRPr sz="19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1508760"/>
            <a:ext cx="33832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508760"/>
            <a:ext cx="64008" cy="41605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627631"/>
            <a:ext cx="31089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>
                <a:solidFill>
                  <a:srgbClr val="14223A"/>
                </a:solidFill>
                <a:latin typeface="Aptos"/>
              </a:rPr>
              <a:t>ROBOT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39112"/>
            <a:ext cx="3108960" cy="20313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dirty="0">
                <a:solidFill>
                  <a:srgbClr val="1F2937"/>
                </a:solidFill>
                <a:latin typeface="Aptos"/>
              </a:rPr>
              <a:t>Camera
↓
OpenCV </a:t>
            </a:r>
            <a:r>
              <a:rPr lang="it-IT" dirty="0">
                <a:solidFill>
                  <a:srgbClr val="1F2937"/>
                </a:solidFill>
                <a:latin typeface="Aptos"/>
              </a:rPr>
              <a:t>- 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SNN
↓
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Comando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 di </a:t>
            </a:r>
            <a:r>
              <a:rPr sz="1800" b="0" dirty="0" err="1">
                <a:solidFill>
                  <a:srgbClr val="1F2937"/>
                </a:solidFill>
                <a:latin typeface="Aptos"/>
              </a:rPr>
              <a:t>controllo</a:t>
            </a:r>
            <a:r>
              <a:rPr sz="1800" b="0" dirty="0">
                <a:solidFill>
                  <a:srgbClr val="1F2937"/>
                </a:solidFill>
                <a:latin typeface="Aptos"/>
              </a:rPr>
              <a:t>
↓
</a:t>
            </a:r>
            <a:r>
              <a:rPr lang="it-IT" sz="1800" b="0" dirty="0">
                <a:solidFill>
                  <a:srgbClr val="1F2937"/>
                </a:solidFill>
                <a:latin typeface="Aptos"/>
              </a:rPr>
              <a:t>Movimento del robot</a:t>
            </a:r>
            <a:endParaRPr sz="1800" b="0" dirty="0">
              <a:solidFill>
                <a:srgbClr val="1F2937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82980" y="6176772"/>
            <a:ext cx="9966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14223A"/>
                </a:solidFill>
                <a:latin typeface="Aptos"/>
              </a:rPr>
              <a:t>Il trail rosso è </a:t>
            </a:r>
            <a:r>
              <a:rPr sz="1500" b="1" dirty="0" err="1">
                <a:solidFill>
                  <a:srgbClr val="14223A"/>
                </a:solidFill>
                <a:latin typeface="Aptos"/>
              </a:rPr>
              <a:t>una</a:t>
            </a:r>
            <a:r>
              <a:rPr sz="15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4223A"/>
                </a:solidFill>
                <a:latin typeface="Aptos"/>
              </a:rPr>
              <a:t>rappresentazione</a:t>
            </a:r>
            <a:r>
              <a:rPr sz="15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4223A"/>
                </a:solidFill>
                <a:latin typeface="Aptos"/>
              </a:rPr>
              <a:t>artificiale</a:t>
            </a:r>
            <a:r>
              <a:rPr sz="1500" b="1" dirty="0">
                <a:solidFill>
                  <a:srgbClr val="14223A"/>
                </a:solidFill>
                <a:latin typeface="Aptos"/>
              </a:rPr>
              <a:t> della </a:t>
            </a:r>
            <a:r>
              <a:rPr sz="1500" b="1" dirty="0" err="1">
                <a:solidFill>
                  <a:srgbClr val="14223A"/>
                </a:solidFill>
                <a:latin typeface="Aptos"/>
              </a:rPr>
              <a:t>traccia</a:t>
            </a:r>
            <a:r>
              <a:rPr sz="1500" b="1" dirty="0">
                <a:solidFill>
                  <a:srgbClr val="14223A"/>
                </a:solidFill>
                <a:latin typeface="Aptos"/>
              </a:rPr>
              <a:t>: non è un </a:t>
            </a:r>
            <a:r>
              <a:rPr sz="1500" b="1" dirty="0" err="1">
                <a:solidFill>
                  <a:srgbClr val="14223A"/>
                </a:solidFill>
                <a:latin typeface="Aptos"/>
              </a:rPr>
              <a:t>feromone</a:t>
            </a:r>
            <a:r>
              <a:rPr sz="15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1500" b="1" dirty="0" err="1">
                <a:solidFill>
                  <a:srgbClr val="14223A"/>
                </a:solidFill>
                <a:latin typeface="Aptos"/>
              </a:rPr>
              <a:t>reale</a:t>
            </a:r>
            <a:r>
              <a:rPr sz="1500" b="1" dirty="0">
                <a:solidFill>
                  <a:srgbClr val="14223A"/>
                </a:solidFill>
                <a:latin typeface="Apto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2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71DBC55D-4402-D715-E5A5-24930C44A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516" y="4382791"/>
            <a:ext cx="1058072" cy="1058072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9868F0D7-26B4-06CB-7B34-A6DD476FA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4379714"/>
            <a:ext cx="1141476" cy="1072776"/>
          </a:xfrm>
          <a:prstGeom prst="rect">
            <a:avLst/>
          </a:prstGeom>
        </p:spPr>
      </p:pic>
      <p:pic>
        <p:nvPicPr>
          <p:cNvPr id="25" name="Immagine 24">
            <a:extLst>
              <a:ext uri="{FF2B5EF4-FFF2-40B4-BE49-F238E27FC236}">
                <a16:creationId xmlns:a16="http://schemas.microsoft.com/office/drawing/2014/main" id="{566A5284-C047-6489-5689-1EE56D74AE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347436"/>
            <a:ext cx="800212" cy="1105054"/>
          </a:xfrm>
          <a:prstGeom prst="rect">
            <a:avLst/>
          </a:prstGeom>
        </p:spPr>
      </p:pic>
      <p:pic>
        <p:nvPicPr>
          <p:cNvPr id="27" name="Immagine 26">
            <a:extLst>
              <a:ext uri="{FF2B5EF4-FFF2-40B4-BE49-F238E27FC236}">
                <a16:creationId xmlns:a16="http://schemas.microsoft.com/office/drawing/2014/main" id="{100481B0-80DB-13DF-D6C6-E856893C2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604" y="4484343"/>
            <a:ext cx="838871" cy="929289"/>
          </a:xfrm>
          <a:prstGeom prst="rect">
            <a:avLst/>
          </a:prstGeom>
        </p:spPr>
      </p:pic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5CF0011-1FFE-6EC7-12BC-581FCCB16FFB}"/>
              </a:ext>
            </a:extLst>
          </p:cNvPr>
          <p:cNvSpPr txBox="1"/>
          <p:nvPr/>
        </p:nvSpPr>
        <p:spPr>
          <a:xfrm>
            <a:off x="822959" y="2598515"/>
            <a:ext cx="609447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900" b="0" dirty="0">
                <a:solidFill>
                  <a:srgbClr val="1F2937"/>
                </a:solidFill>
                <a:latin typeface="Aptos"/>
              </a:rPr>
              <a:t>↓</a:t>
            </a:r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52795A46-B817-A7CE-8AAD-16DE550FD011}"/>
              </a:ext>
            </a:extLst>
          </p:cNvPr>
          <p:cNvSpPr txBox="1"/>
          <p:nvPr/>
        </p:nvSpPr>
        <p:spPr>
          <a:xfrm>
            <a:off x="822959" y="3175110"/>
            <a:ext cx="609447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900" b="0">
                <a:solidFill>
                  <a:srgbClr val="1F2937"/>
                </a:solidFill>
                <a:latin typeface="Aptos"/>
              </a:rPr>
              <a:t>↓</a:t>
            </a:r>
            <a:endParaRPr lang="it-IT" dirty="0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1683B3F-3105-F269-9DB1-334F5258623D}"/>
              </a:ext>
            </a:extLst>
          </p:cNvPr>
          <p:cNvSpPr txBox="1"/>
          <p:nvPr/>
        </p:nvSpPr>
        <p:spPr>
          <a:xfrm>
            <a:off x="822959" y="3693503"/>
            <a:ext cx="609447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900" b="0" dirty="0">
                <a:solidFill>
                  <a:srgbClr val="1F2937"/>
                </a:solidFill>
                <a:latin typeface="Aptos"/>
              </a:rPr>
              <a:t>↓</a:t>
            </a:r>
            <a:endParaRPr lang="it-IT" dirty="0"/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AE4F8963-8A1D-B53E-ADA1-507DCF55DA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7378" y="4347436"/>
            <a:ext cx="1314633" cy="1124107"/>
          </a:xfrm>
          <a:prstGeom prst="rect">
            <a:avLst/>
          </a:prstGeom>
        </p:spPr>
      </p:pic>
      <p:sp>
        <p:nvSpPr>
          <p:cNvPr id="20" name="Rectangle 2">
            <a:extLst>
              <a:ext uri="{FF2B5EF4-FFF2-40B4-BE49-F238E27FC236}">
                <a16:creationId xmlns:a16="http://schemas.microsoft.com/office/drawing/2014/main" id="{1368C8BD-31AC-AE7F-598E-6A72F7A39DD7}"/>
              </a:ext>
            </a:extLst>
          </p:cNvPr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23A"/>
                </a:solidFill>
                <a:latin typeface="Aptos"/>
              </a:rPr>
              <a:t>2. Obiettivo del progetto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>
                <a:latin typeface="Aptos"/>
              </a:rPr>
              <a:t>Ricreare in un robot simulato il comportamento di trail following di una formica utilizzando una Spiking Neural Network.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4983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64008" cy="2880360"/>
          </a:xfrm>
          <a:prstGeom prst="rect">
            <a:avLst/>
          </a:prstGeom>
          <a:solidFill>
            <a:srgbClr val="2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450591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23A"/>
                </a:solidFill>
                <a:latin typeface="Aptos"/>
              </a:rPr>
              <a:t>1. Percezione e supervisione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62072"/>
            <a:ext cx="4709160" cy="2258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Camera → OpenCV → posizione del trail → label per il dataset
OpenCV viene usato come teacher per fornire la supervisione.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2331720"/>
            <a:ext cx="4983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55080" y="2331720"/>
            <a:ext cx="64008" cy="288036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450591"/>
            <a:ext cx="4709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23A"/>
                </a:solidFill>
                <a:latin typeface="Aptos"/>
              </a:rPr>
              <a:t>2. Apprendimento e comportamento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62072"/>
            <a:ext cx="4709160" cy="2258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Camera → rate coding → SNN LIF → posizione del trail → movimento
La SNN apprende e riproduce il comportamento.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CD4141"/>
                </a:solidFill>
                <a:latin typeface="Aptos"/>
              </a:rPr>
              <a:t>Obiettivo finale: verificare se la SNN riesce a ricreare il trail following nel robot.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dirty="0">
                <a:solidFill>
                  <a:srgbClr val="14223A"/>
                </a:solidFill>
                <a:latin typeface="Aptos"/>
              </a:rPr>
              <a:t>3.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Architettura</a:t>
            </a:r>
            <a:r>
              <a:rPr sz="27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complessiva</a:t>
            </a:r>
            <a:endParaRPr sz="2700" b="1" dirty="0">
              <a:solidFill>
                <a:srgbClr val="14223A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775"/>
                </a:solidFill>
                <a:latin typeface="Aptos"/>
              </a:rPr>
              <a:t>CoppeliaSim + Python + due strategie di controllo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6459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993391"/>
            <a:ext cx="155448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CoppeliaSim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965960"/>
            <a:ext cx="16459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993391"/>
            <a:ext cx="155448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Camera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965960"/>
            <a:ext cx="16459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2040" y="1993391"/>
            <a:ext cx="155448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Elaborazione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1965960"/>
            <a:ext cx="16459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59" y="1993391"/>
            <a:ext cx="155448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Controllo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1965960"/>
            <a:ext cx="16459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89720" y="1993391"/>
            <a:ext cx="1554480" cy="722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Ruote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359152"/>
            <a:ext cx="41148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89120" y="2359152"/>
            <a:ext cx="41148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492240" y="2359152"/>
            <a:ext cx="41148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86800" y="2359152"/>
            <a:ext cx="41148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0" y="342900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703320" y="3456432"/>
            <a:ext cx="228600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OpenCV
baseline / teacher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429000"/>
            <a:ext cx="23774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456432"/>
            <a:ext cx="228600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SNN
controller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846320" y="2734056"/>
            <a:ext cx="822960" cy="694944"/>
          </a:xfrm>
          <a:prstGeom prst="line">
            <a:avLst/>
          </a:prstGeom>
          <a:ln w="25400">
            <a:solidFill>
              <a:srgbClr val="2C5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69280" y="2734056"/>
            <a:ext cx="1645920" cy="694944"/>
          </a:xfrm>
          <a:prstGeom prst="line">
            <a:avLst/>
          </a:prstGeom>
          <a:ln w="25400">
            <a:solidFill>
              <a:srgbClr val="2C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50749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4223A"/>
                </a:solidFill>
                <a:latin typeface="Aptos"/>
              </a:rPr>
              <a:t>OpenCV genera le label del dataset; il controllo finale SNN usa la rete addestrata.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2700" b="1" dirty="0">
                <a:solidFill>
                  <a:srgbClr val="14223A"/>
                </a:solidFill>
                <a:latin typeface="Aptos"/>
              </a:rPr>
              <a:t>4.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Struttura</a:t>
            </a:r>
            <a:r>
              <a:rPr sz="2700" b="1" dirty="0">
                <a:solidFill>
                  <a:srgbClr val="14223A"/>
                </a:solidFill>
                <a:latin typeface="Aptos"/>
              </a:rPr>
              <a:t> del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progetto</a:t>
            </a:r>
            <a:endParaRPr sz="2700" b="1" dirty="0">
              <a:solidFill>
                <a:srgbClr val="14223A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775"/>
                </a:solidFill>
                <a:latin typeface="Aptos"/>
              </a:rPr>
              <a:t>Ambiente CoppeliaSim e codici Python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1888" y="1353312"/>
            <a:ext cx="27432" cy="4526280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98448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C96A0"/>
                </a:solidFill>
                <a:latin typeface="Aptos"/>
              </a:rPr>
              <a:t>AMBIENTE DI SIMULAZIONE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129844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2C5CA0"/>
                </a:solidFill>
                <a:latin typeface="Aptos"/>
              </a:rPr>
              <a:t>CODICI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1783080"/>
            <a:ext cx="3566160" cy="658368"/>
          </a:xfrm>
          <a:prstGeom prst="roundRect">
            <a:avLst/>
          </a:prstGeom>
          <a:solidFill>
            <a:srgbClr val="EDF4FC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1810512"/>
            <a:ext cx="347472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4223A"/>
                </a:solidFill>
                <a:latin typeface="Aptos"/>
              </a:rPr>
              <a:t>CoppeliaSim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08960" y="2441448"/>
            <a:ext cx="0" cy="301752"/>
          </a:xfrm>
          <a:prstGeom prst="line">
            <a:avLst/>
          </a:prstGeom>
          <a:ln w="2286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143000" y="2743200"/>
            <a:ext cx="393192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2770632"/>
            <a:ext cx="384048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23A"/>
                </a:solidFill>
                <a:latin typeface="Aptos"/>
              </a:rPr>
              <a:t>path planning robot1.ttt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822191"/>
            <a:ext cx="1325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849624"/>
            <a:ext cx="123443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Robot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344168" y="3401568"/>
            <a:ext cx="1764792" cy="420623"/>
          </a:xfrm>
          <a:prstGeom prst="line">
            <a:avLst/>
          </a:prstGeom>
          <a:ln w="22860">
            <a:solidFill>
              <a:srgbClr val="2C5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240280" y="3822191"/>
            <a:ext cx="1325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0" y="3849624"/>
            <a:ext cx="123443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Camera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898648" y="3401568"/>
            <a:ext cx="210312" cy="420623"/>
          </a:xfrm>
          <a:prstGeom prst="line">
            <a:avLst/>
          </a:prstGeom>
          <a:ln w="22860">
            <a:solidFill>
              <a:srgbClr val="2C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94760" y="3822191"/>
            <a:ext cx="1325880" cy="594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40480" y="3849624"/>
            <a:ext cx="1234439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Trail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3401568"/>
            <a:ext cx="1344168" cy="420623"/>
          </a:xfrm>
          <a:prstGeom prst="line">
            <a:avLst/>
          </a:prstGeom>
          <a:ln w="22860">
            <a:solidFill>
              <a:srgbClr val="CD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417320" y="4892040"/>
            <a:ext cx="3383280" cy="749808"/>
          </a:xfrm>
          <a:prstGeom prst="roundRect">
            <a:avLst/>
          </a:prstGeom>
          <a:solidFill>
            <a:srgbClr val="EEF8F2"/>
          </a:solidFill>
          <a:ln w="19050">
            <a:solidFill>
              <a:srgbClr val="37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4919472"/>
            <a:ext cx="3291840" cy="6949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4223A"/>
                </a:solidFill>
                <a:latin typeface="Aptos"/>
              </a:rPr>
              <a:t>Python + ZeroMQ
Remote 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108960" y="4416552"/>
            <a:ext cx="0" cy="475488"/>
          </a:xfrm>
          <a:prstGeom prst="line">
            <a:avLst/>
          </a:prstGeom>
          <a:ln w="2286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46520" y="1783080"/>
            <a:ext cx="288036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92240" y="1935739"/>
            <a:ext cx="2788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4223A"/>
                </a:solidFill>
                <a:latin typeface="Aptos"/>
              </a:rPr>
              <a:t>task_zmq_curve.py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55480" y="1783080"/>
            <a:ext cx="1874519" cy="566928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0" y="1810512"/>
            <a:ext cx="17830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23A"/>
                </a:solidFill>
                <a:latin typeface="Aptos"/>
              </a:rPr>
              <a:t>OpenCV / Teacher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82127" y="2350008"/>
            <a:ext cx="0" cy="192024"/>
          </a:xfrm>
          <a:prstGeom prst="line">
            <a:avLst/>
          </a:prstGeom>
          <a:ln w="2286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46520" y="2542032"/>
            <a:ext cx="288036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92240" y="2694690"/>
            <a:ext cx="2788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4223A"/>
                </a:solidFill>
                <a:latin typeface="Aptos"/>
              </a:rPr>
              <a:t>collect_snn_dataset.py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55480" y="2542032"/>
            <a:ext cx="1874519" cy="566928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CD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0" y="2569463"/>
            <a:ext cx="17830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23A"/>
                </a:solidFill>
                <a:latin typeface="Aptos"/>
              </a:rPr>
              <a:t>Dataset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82127" y="3108960"/>
            <a:ext cx="0" cy="192024"/>
          </a:xfrm>
          <a:prstGeom prst="line">
            <a:avLst/>
          </a:prstGeom>
          <a:ln w="2286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446520" y="3300984"/>
            <a:ext cx="288036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3453642"/>
            <a:ext cx="2788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4223A"/>
                </a:solidFill>
                <a:latin typeface="Aptos"/>
              </a:rPr>
              <a:t>snn_model.py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55480" y="3300984"/>
            <a:ext cx="1874519" cy="566928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0" y="3328415"/>
            <a:ext cx="17830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23A"/>
                </a:solidFill>
                <a:latin typeface="Aptos"/>
              </a:rPr>
              <a:t>Architettura SNN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882127" y="3867911"/>
            <a:ext cx="0" cy="192024"/>
          </a:xfrm>
          <a:prstGeom prst="line">
            <a:avLst/>
          </a:prstGeom>
          <a:ln w="2286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446520" y="4059936"/>
            <a:ext cx="288036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92240" y="4212595"/>
            <a:ext cx="2788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4223A"/>
                </a:solidFill>
                <a:latin typeface="Aptos"/>
              </a:rPr>
              <a:t>train_snn.py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55480" y="4059936"/>
            <a:ext cx="1874519" cy="566928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01200" y="4087368"/>
            <a:ext cx="17830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23A"/>
                </a:solidFill>
                <a:latin typeface="Aptos"/>
              </a:rPr>
              <a:t>Training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82127" y="4626864"/>
            <a:ext cx="0" cy="192024"/>
          </a:xfrm>
          <a:prstGeom prst="line">
            <a:avLst/>
          </a:prstGeom>
          <a:ln w="2286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6487667" y="4779523"/>
            <a:ext cx="288036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971547"/>
            <a:ext cx="2788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dirty="0">
                <a:solidFill>
                  <a:srgbClr val="14223A"/>
                </a:solidFill>
                <a:latin typeface="Aptos"/>
              </a:rPr>
              <a:t>run_snn_robot.py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555480" y="4818888"/>
            <a:ext cx="1874519" cy="566928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37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0" y="4846320"/>
            <a:ext cx="1783079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4223A"/>
                </a:solidFill>
                <a:latin typeface="Aptos"/>
              </a:rPr>
              <a:t>Controllo SNN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1" y="6281927"/>
            <a:ext cx="106527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 err="1">
                <a:solidFill>
                  <a:srgbClr val="14223A"/>
                </a:solidFill>
                <a:latin typeface="Aptos"/>
              </a:rPr>
              <a:t>CoppeliaSim</a:t>
            </a:r>
            <a:r>
              <a:rPr sz="14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4223A"/>
                </a:solidFill>
                <a:latin typeface="Aptos"/>
              </a:rPr>
              <a:t>fornisce</a:t>
            </a:r>
            <a:r>
              <a:rPr sz="14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4223A"/>
                </a:solidFill>
                <a:latin typeface="Aptos"/>
              </a:rPr>
              <a:t>l'ambiente</a:t>
            </a:r>
            <a:r>
              <a:rPr sz="1400" b="1" dirty="0">
                <a:solidFill>
                  <a:srgbClr val="14223A"/>
                </a:solidFill>
                <a:latin typeface="Aptos"/>
              </a:rPr>
              <a:t>; </a:t>
            </a:r>
            <a:r>
              <a:rPr sz="1400" b="1" dirty="0" err="1">
                <a:solidFill>
                  <a:srgbClr val="14223A"/>
                </a:solidFill>
                <a:latin typeface="Aptos"/>
              </a:rPr>
              <a:t>i</a:t>
            </a:r>
            <a:r>
              <a:rPr sz="14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14223A"/>
                </a:solidFill>
                <a:latin typeface="Aptos"/>
              </a:rPr>
              <a:t>codici</a:t>
            </a:r>
            <a:r>
              <a:rPr sz="1400" b="1" dirty="0">
                <a:solidFill>
                  <a:srgbClr val="14223A"/>
                </a:solidFill>
                <a:latin typeface="Aptos"/>
              </a:rPr>
              <a:t> Python </a:t>
            </a:r>
            <a:r>
              <a:rPr sz="1400" b="1" dirty="0" err="1">
                <a:solidFill>
                  <a:srgbClr val="14223A"/>
                </a:solidFill>
                <a:latin typeface="Aptos"/>
              </a:rPr>
              <a:t>gestiscono</a:t>
            </a:r>
            <a:r>
              <a:rPr sz="1400" b="1" dirty="0">
                <a:solidFill>
                  <a:srgbClr val="14223A"/>
                </a:solidFill>
                <a:latin typeface="Aptos"/>
              </a:rPr>
              <a:t> dataset, training SNN</a:t>
            </a:r>
            <a:r>
              <a:rPr lang="it-IT" sz="1400" b="1" dirty="0">
                <a:solidFill>
                  <a:srgbClr val="14223A"/>
                </a:solidFill>
                <a:latin typeface="Aptos"/>
              </a:rPr>
              <a:t>,</a:t>
            </a:r>
            <a:r>
              <a:rPr sz="1400" b="1" dirty="0" err="1">
                <a:solidFill>
                  <a:srgbClr val="14223A"/>
                </a:solidFill>
                <a:latin typeface="Aptos"/>
              </a:rPr>
              <a:t>controllo</a:t>
            </a:r>
            <a:r>
              <a:rPr sz="1400" b="1" dirty="0">
                <a:solidFill>
                  <a:srgbClr val="14223A"/>
                </a:solidFill>
                <a:latin typeface="Aptos"/>
              </a:rPr>
              <a:t> del robot</a:t>
            </a:r>
            <a:r>
              <a:rPr lang="it-IT" sz="1400" b="1" dirty="0">
                <a:solidFill>
                  <a:srgbClr val="14223A"/>
                </a:solidFill>
                <a:latin typeface="Aptos"/>
              </a:rPr>
              <a:t> e valutazione</a:t>
            </a:r>
            <a:endParaRPr sz="1400" b="1" dirty="0">
              <a:solidFill>
                <a:srgbClr val="14223A"/>
              </a:solidFill>
              <a:latin typeface="Aptos"/>
            </a:endParaRPr>
          </a:p>
        </p:txBody>
      </p:sp>
      <p:sp>
        <p:nvSpPr>
          <p:cNvPr id="51" name="Rounded Rectangle 44">
            <a:extLst>
              <a:ext uri="{FF2B5EF4-FFF2-40B4-BE49-F238E27FC236}">
                <a16:creationId xmlns:a16="http://schemas.microsoft.com/office/drawing/2014/main" id="{C033D4EE-3BBB-D91D-3558-33BFC7B43F39}"/>
              </a:ext>
            </a:extLst>
          </p:cNvPr>
          <p:cNvSpPr/>
          <p:nvPr/>
        </p:nvSpPr>
        <p:spPr>
          <a:xfrm>
            <a:off x="6473952" y="5559552"/>
            <a:ext cx="288036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45">
            <a:extLst>
              <a:ext uri="{FF2B5EF4-FFF2-40B4-BE49-F238E27FC236}">
                <a16:creationId xmlns:a16="http://schemas.microsoft.com/office/drawing/2014/main" id="{083C908D-185C-1B61-3B9A-29B729BF9D90}"/>
              </a:ext>
            </a:extLst>
          </p:cNvPr>
          <p:cNvSpPr txBox="1"/>
          <p:nvPr/>
        </p:nvSpPr>
        <p:spPr>
          <a:xfrm>
            <a:off x="6487667" y="5666489"/>
            <a:ext cx="27889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it-IT" sz="1100" b="1" dirty="0" err="1">
                <a:solidFill>
                  <a:srgbClr val="14223A"/>
                </a:solidFill>
                <a:latin typeface="Aptos"/>
              </a:rPr>
              <a:t>evaluate_snn</a:t>
            </a:r>
            <a:r>
              <a:rPr sz="1100" b="1" dirty="0">
                <a:solidFill>
                  <a:srgbClr val="14223A"/>
                </a:solidFill>
                <a:latin typeface="Aptos"/>
              </a:rPr>
              <a:t>.</a:t>
            </a:r>
            <a:r>
              <a:rPr sz="1100" b="1" dirty="0" err="1">
                <a:solidFill>
                  <a:srgbClr val="14223A"/>
                </a:solidFill>
                <a:latin typeface="Aptos"/>
              </a:rPr>
              <a:t>py</a:t>
            </a:r>
            <a:endParaRPr sz="1100" b="1" dirty="0">
              <a:solidFill>
                <a:srgbClr val="14223A"/>
              </a:solidFill>
              <a:latin typeface="Aptos"/>
            </a:endParaRPr>
          </a:p>
        </p:txBody>
      </p:sp>
      <p:sp>
        <p:nvSpPr>
          <p:cNvPr id="55" name="Rounded Rectangle 46">
            <a:extLst>
              <a:ext uri="{FF2B5EF4-FFF2-40B4-BE49-F238E27FC236}">
                <a16:creationId xmlns:a16="http://schemas.microsoft.com/office/drawing/2014/main" id="{39CD6328-35F9-F4F0-A7BD-FAFFE850F7DC}"/>
              </a:ext>
            </a:extLst>
          </p:cNvPr>
          <p:cNvSpPr/>
          <p:nvPr/>
        </p:nvSpPr>
        <p:spPr>
          <a:xfrm>
            <a:off x="9555480" y="5559552"/>
            <a:ext cx="1874519" cy="566928"/>
          </a:xfrm>
          <a:prstGeom prst="roundRect">
            <a:avLst/>
          </a:prstGeom>
          <a:solidFill>
            <a:srgbClr val="F4F7FA"/>
          </a:solidFill>
          <a:ln w="19050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47">
            <a:extLst>
              <a:ext uri="{FF2B5EF4-FFF2-40B4-BE49-F238E27FC236}">
                <a16:creationId xmlns:a16="http://schemas.microsoft.com/office/drawing/2014/main" id="{F8758133-7ED0-D5B7-9FF3-26A987EF03F8}"/>
              </a:ext>
            </a:extLst>
          </p:cNvPr>
          <p:cNvSpPr txBox="1"/>
          <p:nvPr/>
        </p:nvSpPr>
        <p:spPr>
          <a:xfrm>
            <a:off x="9601200" y="5733287"/>
            <a:ext cx="1783079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it-IT" sz="1100" b="1" dirty="0">
                <a:solidFill>
                  <a:srgbClr val="14223A"/>
                </a:solidFill>
                <a:latin typeface="Aptos"/>
              </a:rPr>
              <a:t>Valutazione</a:t>
            </a:r>
            <a:endParaRPr sz="1100" b="1" dirty="0">
              <a:solidFill>
                <a:srgbClr val="14223A"/>
              </a:solidFill>
              <a:latin typeface="Aptos"/>
            </a:endParaRPr>
          </a:p>
        </p:txBody>
      </p:sp>
      <p:cxnSp>
        <p:nvCxnSpPr>
          <p:cNvPr id="58" name="Connector 43">
            <a:extLst>
              <a:ext uri="{FF2B5EF4-FFF2-40B4-BE49-F238E27FC236}">
                <a16:creationId xmlns:a16="http://schemas.microsoft.com/office/drawing/2014/main" id="{4C3605F4-A85E-7464-E2F2-A70EA6175114}"/>
              </a:ext>
            </a:extLst>
          </p:cNvPr>
          <p:cNvCxnSpPr/>
          <p:nvPr/>
        </p:nvCxnSpPr>
        <p:spPr>
          <a:xfrm>
            <a:off x="7911083" y="5358384"/>
            <a:ext cx="0" cy="192024"/>
          </a:xfrm>
          <a:prstGeom prst="line">
            <a:avLst/>
          </a:prstGeom>
          <a:ln w="2286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2700" b="1" dirty="0">
                <a:solidFill>
                  <a:srgbClr val="14223A"/>
                </a:solidFill>
                <a:latin typeface="Aptos"/>
              </a:rPr>
              <a:t>5</a:t>
            </a:r>
            <a:r>
              <a:rPr sz="2700" b="1" dirty="0">
                <a:solidFill>
                  <a:srgbClr val="14223A"/>
                </a:solidFill>
                <a:latin typeface="Aptos"/>
              </a:rPr>
              <a:t>.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Ambiente</a:t>
            </a:r>
            <a:r>
              <a:rPr sz="27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CoppeliaSim</a:t>
            </a:r>
            <a:endParaRPr sz="2700" b="1" dirty="0">
              <a:solidFill>
                <a:srgbClr val="14223A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4480560"/>
          </a:xfrm>
          <a:prstGeom prst="rect">
            <a:avLst/>
          </a:prstGeom>
          <a:solidFill>
            <a:srgbClr val="2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59" y="144475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23A"/>
                </a:solidFill>
                <a:latin typeface="Aptos"/>
              </a:rPr>
              <a:t>Elementi principali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04166"/>
            <a:ext cx="3383280" cy="19236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1F2937"/>
                </a:solidFill>
                <a:latin typeface="Aptos"/>
              </a:rPr>
              <a:t>• Robot mobile
• Camera di </a:t>
            </a:r>
            <a:r>
              <a:rPr sz="1700" b="0" dirty="0" err="1">
                <a:solidFill>
                  <a:srgbClr val="1F2937"/>
                </a:solidFill>
                <a:latin typeface="Aptos"/>
              </a:rPr>
              <a:t>visione</a:t>
            </a:r>
            <a:r>
              <a:rPr sz="1700" b="0" dirty="0">
                <a:solidFill>
                  <a:srgbClr val="1F2937"/>
                </a:solidFill>
                <a:latin typeface="Aptos"/>
              </a:rPr>
              <a:t>
• Quattro </a:t>
            </a:r>
            <a:r>
              <a:rPr sz="1700" b="0" dirty="0" err="1">
                <a:solidFill>
                  <a:srgbClr val="1F2937"/>
                </a:solidFill>
                <a:latin typeface="Aptos"/>
              </a:rPr>
              <a:t>giunti</a:t>
            </a:r>
            <a:r>
              <a:rPr sz="17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700" b="0" dirty="0" err="1">
                <a:solidFill>
                  <a:srgbClr val="1F2937"/>
                </a:solidFill>
                <a:latin typeface="Aptos"/>
              </a:rPr>
              <a:t>ruota</a:t>
            </a:r>
            <a:r>
              <a:rPr sz="1700" b="0" dirty="0">
                <a:solidFill>
                  <a:srgbClr val="1F2937"/>
                </a:solidFill>
                <a:latin typeface="Aptos"/>
              </a:rPr>
              <a:t>
• Trail rosso</a:t>
            </a:r>
            <a:endParaRPr lang="it-IT" sz="1700" b="0" dirty="0">
              <a:solidFill>
                <a:srgbClr val="1F2937"/>
              </a:solidFill>
              <a:latin typeface="Aptos"/>
            </a:endParaRPr>
          </a:p>
          <a:p>
            <a:pPr algn="l"/>
            <a:r>
              <a:rPr sz="1700" b="0" dirty="0">
                <a:solidFill>
                  <a:srgbClr val="1F2937"/>
                </a:solidFill>
                <a:latin typeface="Aptos"/>
              </a:rPr>
              <a:t>
• Scene Hierarchy</a:t>
            </a:r>
            <a:r>
              <a:rPr lang="it-IT" sz="1700" b="0" dirty="0">
                <a:solidFill>
                  <a:srgbClr val="1F2937"/>
                </a:solidFill>
                <a:latin typeface="Aptos"/>
              </a:rPr>
              <a:t>:</a:t>
            </a:r>
            <a:r>
              <a:rPr sz="1700" b="0" dirty="0">
                <a:solidFill>
                  <a:srgbClr val="1F2937"/>
                </a:solidFill>
                <a:latin typeface="Aptos"/>
              </a:rPr>
              <a:t>
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5</a:t>
            </a:r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A6DD481C-694A-EA69-EB41-BFFA60E9B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3135" y="466749"/>
            <a:ext cx="6108785" cy="5682591"/>
          </a:xfrm>
          <a:prstGeom prst="rect">
            <a:avLst/>
          </a:prstGeom>
        </p:spPr>
      </p:pic>
      <p:pic>
        <p:nvPicPr>
          <p:cNvPr id="32" name="Immagine 31">
            <a:extLst>
              <a:ext uri="{FF2B5EF4-FFF2-40B4-BE49-F238E27FC236}">
                <a16:creationId xmlns:a16="http://schemas.microsoft.com/office/drawing/2014/main" id="{00E7DB84-D4C0-A19E-A8BA-8C3662801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450" y="3588749"/>
            <a:ext cx="2715004" cy="19433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23A"/>
                </a:solidFill>
                <a:latin typeface="Aptos"/>
              </a:rPr>
              <a:t>5. Baseline: Computer Vision con OpenCV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1410871"/>
            <a:ext cx="13258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38302"/>
            <a:ext cx="12344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RGB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28800" y="1740055"/>
            <a:ext cx="256032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130552" y="1410871"/>
            <a:ext cx="13258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176272" y="1438302"/>
            <a:ext cx="12344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HSV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56432" y="1740055"/>
            <a:ext cx="256032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58184" y="1410871"/>
            <a:ext cx="13258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03904" y="1438302"/>
            <a:ext cx="12344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Red mask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84064" y="1740055"/>
            <a:ext cx="256032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85816" y="1410871"/>
            <a:ext cx="13258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31536" y="1438302"/>
            <a:ext cx="12344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Contorni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11696" y="1740055"/>
            <a:ext cx="256031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013448" y="1410871"/>
            <a:ext cx="13258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59168" y="1438302"/>
            <a:ext cx="12344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cx, cy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39327" y="1740055"/>
            <a:ext cx="256033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41080" y="1410871"/>
            <a:ext cx="13258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0" y="1438302"/>
            <a:ext cx="12344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Errore angolare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966960" y="1740055"/>
            <a:ext cx="256032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68712" y="1410871"/>
            <a:ext cx="132588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14432" y="1438302"/>
            <a:ext cx="1234439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Ruote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090672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dirty="0">
                <a:solidFill>
                  <a:srgbClr val="1F2937"/>
                </a:solidFill>
                <a:latin typeface="Aptos"/>
              </a:rPr>
              <a:t>HSV: due intervalli del rosso + apertura/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chiusura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morfologica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357073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dirty="0">
                <a:solidFill>
                  <a:srgbClr val="1F2937"/>
                </a:solidFill>
                <a:latin typeface="Aptos"/>
              </a:rPr>
              <a:t>Contorno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principale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→ centro del trail →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errore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rispetto al centro della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parte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bassa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dell'immagine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57015" y="4882896"/>
            <a:ext cx="6217920" cy="82296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02735" y="4910328"/>
            <a:ext cx="612648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dirty="0">
                <a:solidFill>
                  <a:srgbClr val="14223A"/>
                </a:solidFill>
                <a:latin typeface="Aptos"/>
              </a:rPr>
              <a:t>ω = arctan((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x_ref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− cx) / (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y_ref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− cy))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6</a:t>
            </a:r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C21F97F1-0CE9-0CD2-6095-A6FE10A6E9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121"/>
          <a:stretch>
            <a:fillRect/>
          </a:stretch>
        </p:blipFill>
        <p:spPr>
          <a:xfrm>
            <a:off x="502920" y="2288065"/>
            <a:ext cx="1941364" cy="2000471"/>
          </a:xfrm>
          <a:prstGeom prst="rect">
            <a:avLst/>
          </a:prstGeom>
        </p:spPr>
      </p:pic>
      <p:pic>
        <p:nvPicPr>
          <p:cNvPr id="33" name="Immagine 32">
            <a:extLst>
              <a:ext uri="{FF2B5EF4-FFF2-40B4-BE49-F238E27FC236}">
                <a16:creationId xmlns:a16="http://schemas.microsoft.com/office/drawing/2014/main" id="{5B967FB7-734E-BCF4-D8AE-4FC57F4012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417439"/>
            <a:ext cx="1925690" cy="2138809"/>
          </a:xfrm>
          <a:prstGeom prst="rect">
            <a:avLst/>
          </a:prstGeom>
        </p:spPr>
      </p:pic>
      <p:sp>
        <p:nvSpPr>
          <p:cNvPr id="35" name="Rectangle 2">
            <a:extLst>
              <a:ext uri="{FF2B5EF4-FFF2-40B4-BE49-F238E27FC236}">
                <a16:creationId xmlns:a16="http://schemas.microsoft.com/office/drawing/2014/main" id="{02186CCB-F428-90AD-EA82-219EC983A306}"/>
              </a:ext>
            </a:extLst>
          </p:cNvPr>
          <p:cNvSpPr/>
          <p:nvPr/>
        </p:nvSpPr>
        <p:spPr>
          <a:xfrm>
            <a:off x="3255264" y="2918460"/>
            <a:ext cx="45719" cy="120396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23A"/>
                </a:solidFill>
                <a:latin typeface="Aptos"/>
              </a:rPr>
              <a:t>6. OpenCV come Teacher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775"/>
                </a:solidFill>
                <a:latin typeface="Aptos"/>
              </a:rPr>
              <a:t>Generazione automatica delle label per il training supervisionato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856231"/>
            <a:ext cx="1463039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Camera
RGB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828800"/>
            <a:ext cx="210312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88920" y="1856231"/>
            <a:ext cx="2011679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OpenCV
red mask + contour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828800"/>
            <a:ext cx="17373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0" y="1856231"/>
            <a:ext cx="1645919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cx / posizione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828800"/>
            <a:ext cx="1554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0" y="1856231"/>
            <a:ext cx="1463039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5 classi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1828800"/>
            <a:ext cx="17373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84080" y="1856231"/>
            <a:ext cx="1645919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Immagine + label
→ Dataset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2240280"/>
            <a:ext cx="54864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46320" y="2240280"/>
            <a:ext cx="59436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2240280"/>
            <a:ext cx="64008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72600" y="2240280"/>
            <a:ext cx="36576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05840" y="3749039"/>
            <a:ext cx="169164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749039"/>
            <a:ext cx="169164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223A"/>
                </a:solidFill>
                <a:latin typeface="Aptos"/>
              </a:rPr>
              <a:t>0 FAR_LEFT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749039"/>
            <a:ext cx="169164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54680" y="3749039"/>
            <a:ext cx="169164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223A"/>
                </a:solidFill>
                <a:latin typeface="Aptos"/>
              </a:rPr>
              <a:t>1 LEFT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0" y="3749039"/>
            <a:ext cx="169164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3749039"/>
            <a:ext cx="169164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223A"/>
                </a:solidFill>
                <a:latin typeface="Aptos"/>
              </a:rPr>
              <a:t>2 CENTER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3749039"/>
            <a:ext cx="169164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52360" y="3749039"/>
            <a:ext cx="169164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223A"/>
                </a:solidFill>
                <a:latin typeface="Aptos"/>
              </a:rPr>
              <a:t>3 RIGHT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0" y="3749039"/>
            <a:ext cx="169164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0" y="3749039"/>
            <a:ext cx="169164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14223A"/>
                </a:solidFill>
                <a:latin typeface="Aptos"/>
              </a:rPr>
              <a:t>4 FAR_RIGHT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0060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CD4141"/>
                </a:solidFill>
                <a:latin typeface="Aptos"/>
              </a:rPr>
              <a:t>OpenCV non addestra la SNN: genera automaticamente le label supervisionate.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5C6775"/>
                </a:solidFill>
                <a:latin typeface="Aptos"/>
              </a:rPr>
              <a:t>cx / WIDTH → soglie [0.20, 0.40, 0.60, 0.80].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23A"/>
                </a:solidFill>
                <a:latin typeface="Aptos"/>
              </a:rPr>
              <a:t>7. Perché una Spiking Neural Network?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64008" cy="434340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361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23A"/>
                </a:solidFill>
                <a:latin typeface="Aptos"/>
              </a:rPr>
              <a:t>Bioispirazione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47672"/>
            <a:ext cx="3154680" cy="3721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Le SNN sono ispirate alla comunicazione neuronale attraverso eventi discreti (spike).
Qui la bioispirazione riguarda anche il paradigma computazionale.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64008" cy="4343400"/>
          </a:xfrm>
          <a:prstGeom prst="rect">
            <a:avLst/>
          </a:prstGeom>
          <a:solidFill>
            <a:srgbClr val="2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5361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23A"/>
                </a:solidFill>
                <a:latin typeface="Aptos"/>
              </a:rPr>
              <a:t>Temporalità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47672"/>
            <a:ext cx="3154680" cy="3721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La rete evolve su più timestep.
L'informazione non è solo un frame statico: viene trasformata in una sequenza temporale di spike.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290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64008" cy="4343400"/>
          </a:xfrm>
          <a:prstGeom prst="rect">
            <a:avLst/>
          </a:prstGeom>
          <a:solidFill>
            <a:srgbClr val="37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19" y="1536192"/>
            <a:ext cx="3154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23A"/>
                </a:solidFill>
                <a:latin typeface="Aptos"/>
              </a:rPr>
              <a:t>Potenziale neuromorfico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1947672"/>
            <a:ext cx="3154680" cy="3721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Aptos"/>
              </a:rPr>
              <a:t>Interessanti per elaborazione event-driven e hardware neuromorfico.
Nel progetto NON è stato misurato un risparmio energetico.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23A"/>
                </a:solidFill>
                <a:latin typeface="Aptos"/>
              </a:rPr>
              <a:t>8. Architettura della SNN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084831"/>
            <a:ext cx="182880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23A"/>
                </a:solidFill>
                <a:latin typeface="Aptos"/>
              </a:rPr>
              <a:t>32×32×3
= 3072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23160" y="2542032"/>
            <a:ext cx="32004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834639" y="205740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359" y="2084831"/>
            <a:ext cx="182880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23A"/>
                </a:solidFill>
                <a:latin typeface="Aptos"/>
              </a:rPr>
              <a:t>Linear
3072 → 128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54879" y="2542032"/>
            <a:ext cx="320041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66359" y="205740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12079" y="2084831"/>
            <a:ext cx="182880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23A"/>
                </a:solidFill>
                <a:latin typeface="Aptos"/>
              </a:rPr>
              <a:t>LIF
β = 0.9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0" y="2542032"/>
            <a:ext cx="32004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205740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43800" y="2084831"/>
            <a:ext cx="182880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23A"/>
                </a:solidFill>
                <a:latin typeface="Aptos"/>
              </a:rPr>
              <a:t>Linear
128 → 5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18319" y="2542032"/>
            <a:ext cx="32004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829800" y="2057400"/>
            <a:ext cx="192024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0" y="2084831"/>
            <a:ext cx="182880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14223A"/>
                </a:solidFill>
                <a:latin typeface="Aptos"/>
              </a:rPr>
              <a:t>LIF
5 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79476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4223A"/>
                </a:solidFill>
                <a:latin typeface="Aptos"/>
              </a:rPr>
              <a:t>Output: FAR_LEFT • LEFT • CENTER • RIGHT • FAR_RIGHT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5C6775"/>
                </a:solidFill>
                <a:latin typeface="Aptos"/>
              </a:rPr>
              <a:t>PyTorch + snnTorch • surrogate.fast_sigmoid() • reset='subtract'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2937"/>
                </a:solidFill>
                <a:latin typeface="Aptos"/>
              </a:rPr>
              <a:t>Modello shallow e fully connected: Linear → LIF → Linear → LIF.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23A"/>
                </a:solidFill>
                <a:latin typeface="Aptos"/>
              </a:rPr>
              <a:t>9. Dall'immagine allo spike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775"/>
                </a:solidFill>
                <a:latin typeface="Aptos"/>
              </a:rPr>
              <a:t>Rate coding su 20 timestep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82880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56231"/>
            <a:ext cx="1737360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Pixel
intensità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240280"/>
            <a:ext cx="105156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03320" y="1645920"/>
            <a:ext cx="25603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49039" y="1673352"/>
            <a:ext cx="2468879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Rate coding
spikegen.rate()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63640" y="2240280"/>
            <a:ext cx="1051560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0" y="1645920"/>
            <a:ext cx="310896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60920" y="1673352"/>
            <a:ext cx="3017520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Spike train
0 1 0 0 1 1 0 1 …</a:t>
            </a:r>
          </a:p>
        </p:txBody>
      </p:sp>
      <p:sp>
        <p:nvSpPr>
          <p:cNvPr id="13" name="Oval 12"/>
          <p:cNvSpPr/>
          <p:nvPr/>
        </p:nvSpPr>
        <p:spPr>
          <a:xfrm>
            <a:off x="4215384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62856" y="3831337"/>
            <a:ext cx="146304" cy="146304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910328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57800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605272" y="3831337"/>
            <a:ext cx="146304" cy="146304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52744" y="3831337"/>
            <a:ext cx="146304" cy="146304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00216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647688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995160" y="3831337"/>
            <a:ext cx="146304" cy="146304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42632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690104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037576" y="3831337"/>
            <a:ext cx="146304" cy="146304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385048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32520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079992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27464" y="3831337"/>
            <a:ext cx="146304" cy="146304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774936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122408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469880" y="3831337"/>
            <a:ext cx="146304" cy="146304"/>
          </a:xfrm>
          <a:prstGeom prst="ellipse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817352" y="3831337"/>
            <a:ext cx="146304" cy="146304"/>
          </a:xfrm>
          <a:prstGeom prst="ellipse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816352" y="4572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 dirty="0">
                <a:solidFill>
                  <a:srgbClr val="14223A"/>
                </a:solidFill>
                <a:latin typeface="Aptos"/>
              </a:rPr>
              <a:t>Ogni timestep </a:t>
            </a:r>
            <a:r>
              <a:rPr sz="1700" b="1" dirty="0" err="1">
                <a:solidFill>
                  <a:srgbClr val="14223A"/>
                </a:solidFill>
                <a:latin typeface="Aptos"/>
              </a:rPr>
              <a:t>aggiorna</a:t>
            </a:r>
            <a:r>
              <a:rPr sz="1700" b="1" dirty="0">
                <a:solidFill>
                  <a:srgbClr val="14223A"/>
                </a:solidFill>
                <a:latin typeface="Aptos"/>
              </a:rPr>
              <a:t> il </a:t>
            </a:r>
            <a:r>
              <a:rPr sz="1700" b="1" dirty="0" err="1">
                <a:solidFill>
                  <a:srgbClr val="14223A"/>
                </a:solidFill>
                <a:latin typeface="Aptos"/>
              </a:rPr>
              <a:t>potenziale</a:t>
            </a:r>
            <a:r>
              <a:rPr sz="1700" b="1" dirty="0">
                <a:solidFill>
                  <a:srgbClr val="14223A"/>
                </a:solidFill>
                <a:latin typeface="Aptos"/>
              </a:rPr>
              <a:t> di membrana </a:t>
            </a:r>
            <a:r>
              <a:rPr sz="1700" b="1" dirty="0" err="1">
                <a:solidFill>
                  <a:srgbClr val="14223A"/>
                </a:solidFill>
                <a:latin typeface="Aptos"/>
              </a:rPr>
              <a:t>dei</a:t>
            </a:r>
            <a:r>
              <a:rPr sz="17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1700" b="1" dirty="0" err="1">
                <a:solidFill>
                  <a:srgbClr val="14223A"/>
                </a:solidFill>
                <a:latin typeface="Aptos"/>
              </a:rPr>
              <a:t>neuroni</a:t>
            </a:r>
            <a:r>
              <a:rPr sz="1700" b="1" dirty="0">
                <a:solidFill>
                  <a:srgbClr val="14223A"/>
                </a:solidFill>
                <a:latin typeface="Aptos"/>
              </a:rPr>
              <a:t> LIF.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60904" y="5294376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dirty="0">
                <a:solidFill>
                  <a:srgbClr val="1F2937"/>
                </a:solidFill>
                <a:latin typeface="Aptos"/>
              </a:rPr>
              <a:t>La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dinamica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temporale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è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parte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500" b="0" dirty="0" err="1">
                <a:solidFill>
                  <a:srgbClr val="1F2937"/>
                </a:solidFill>
                <a:latin typeface="Aptos"/>
              </a:rPr>
              <a:t>integrante</a:t>
            </a:r>
            <a:r>
              <a:rPr sz="1500" b="0" dirty="0">
                <a:solidFill>
                  <a:srgbClr val="1F2937"/>
                </a:solidFill>
                <a:latin typeface="Aptos"/>
              </a:rPr>
              <a:t> della SNN.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23A"/>
                </a:solidFill>
                <a:latin typeface="Aptos"/>
              </a:rPr>
              <a:t>10. Training della SNN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1100" b="0" dirty="0">
                <a:solidFill>
                  <a:srgbClr val="5C6775"/>
                </a:solidFill>
                <a:latin typeface="Aptos"/>
              </a:rPr>
              <a:t>Metodo supervisionato</a:t>
            </a:r>
            <a:endParaRPr sz="1100" b="0" dirty="0">
              <a:solidFill>
                <a:srgbClr val="5C6775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48640" y="2688336"/>
            <a:ext cx="1417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59" y="2715767"/>
            <a:ext cx="132588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Dataset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3145536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249424" y="2688336"/>
            <a:ext cx="1417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95143" y="2715767"/>
            <a:ext cx="132588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DataLoader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66744" y="3145536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50208" y="2688336"/>
            <a:ext cx="1417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95928" y="2715767"/>
            <a:ext cx="132588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Batch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67528" y="3145536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50992" y="2688336"/>
            <a:ext cx="1417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96712" y="2715767"/>
            <a:ext cx="132588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Forward
20 timestep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68312" y="3145536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51776" y="2688336"/>
            <a:ext cx="1417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97496" y="2715767"/>
            <a:ext cx="132588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Loss
Cross Entropy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69096" y="3145536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52560" y="2688336"/>
            <a:ext cx="1417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98280" y="2715767"/>
            <a:ext cx="132588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Backward
Surrogate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469880" y="3145536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753344" y="2688336"/>
            <a:ext cx="14173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99064" y="2715767"/>
            <a:ext cx="1325880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Update
Adam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37083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23A"/>
                </a:solidFill>
                <a:latin typeface="Aptos"/>
              </a:rPr>
              <a:t>Loss media sui timestep: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6120" y="4187952"/>
            <a:ext cx="4572000" cy="68580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0" y="4215384"/>
            <a:ext cx="4480560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14223A"/>
                </a:solidFill>
                <a:latin typeface="Aptos"/>
              </a:rPr>
              <a:t>L = (1/T) Σ CE(V(t), 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8523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tos"/>
              </a:rPr>
              <a:t>batch=32 • epochs=20 • learning rate=10⁻³ • validation split=20% • Adam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971032"/>
            <a:ext cx="104241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CD4141"/>
                </a:solidFill>
                <a:latin typeface="Aptos"/>
              </a:rPr>
              <a:t>Il surrogate gradient permette il backpropagation attraverso il comportamento discreto dello spike.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11</a:t>
            </a:r>
          </a:p>
        </p:txBody>
      </p:sp>
      <p:sp>
        <p:nvSpPr>
          <p:cNvPr id="40" name="Figura a mano libera: forma 39">
            <a:extLst>
              <a:ext uri="{FF2B5EF4-FFF2-40B4-BE49-F238E27FC236}">
                <a16:creationId xmlns:a16="http://schemas.microsoft.com/office/drawing/2014/main" id="{D33AA7EA-55AE-C2A1-2E17-F0AD1560938E}"/>
              </a:ext>
            </a:extLst>
          </p:cNvPr>
          <p:cNvSpPr/>
          <p:nvPr/>
        </p:nvSpPr>
        <p:spPr>
          <a:xfrm>
            <a:off x="988722" y="1106424"/>
            <a:ext cx="4625694" cy="1563624"/>
          </a:xfrm>
          <a:custGeom>
            <a:avLst/>
            <a:gdLst>
              <a:gd name="csX0" fmla="*/ 145134 w 4625694"/>
              <a:gd name="csY0" fmla="*/ 1563624 h 1563624"/>
              <a:gd name="csX1" fmla="*/ 337158 w 4625694"/>
              <a:gd name="csY1" fmla="*/ 877824 h 1563624"/>
              <a:gd name="csX2" fmla="*/ 3098646 w 4625694"/>
              <a:gd name="csY2" fmla="*/ 859536 h 1563624"/>
              <a:gd name="csX3" fmla="*/ 4625694 w 4625694"/>
              <a:gd name="csY3" fmla="*/ 0 h 1563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4625694" h="1563624">
                <a:moveTo>
                  <a:pt x="145134" y="1563624"/>
                </a:moveTo>
                <a:cubicBezTo>
                  <a:pt x="-4980" y="1279398"/>
                  <a:pt x="-155094" y="995172"/>
                  <a:pt x="337158" y="877824"/>
                </a:cubicBezTo>
                <a:cubicBezTo>
                  <a:pt x="829410" y="760476"/>
                  <a:pt x="2383890" y="1005840"/>
                  <a:pt x="3098646" y="859536"/>
                </a:cubicBezTo>
                <a:cubicBezTo>
                  <a:pt x="3813402" y="713232"/>
                  <a:pt x="4578450" y="441960"/>
                  <a:pt x="4625694" y="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3" name="Immagine 42">
            <a:extLst>
              <a:ext uri="{FF2B5EF4-FFF2-40B4-BE49-F238E27FC236}">
                <a16:creationId xmlns:a16="http://schemas.microsoft.com/office/drawing/2014/main" id="{4957748D-0E13-ED93-F92C-F6DF6CB3B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061" y="400331"/>
            <a:ext cx="2103739" cy="1756377"/>
          </a:xfrm>
          <a:prstGeom prst="rect">
            <a:avLst/>
          </a:prstGeom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C80BD60F-7A9B-7D3E-9EAE-C50FBFA9B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4701" y="691648"/>
            <a:ext cx="1271016" cy="1271016"/>
          </a:xfrm>
          <a:prstGeom prst="rect">
            <a:avLst/>
          </a:prstGeom>
        </p:spPr>
      </p:pic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D4FF02EB-7455-CCC2-8547-7284BDF6C80A}"/>
              </a:ext>
            </a:extLst>
          </p:cNvPr>
          <p:cNvSpPr txBox="1"/>
          <p:nvPr/>
        </p:nvSpPr>
        <p:spPr>
          <a:xfrm>
            <a:off x="7755268" y="924576"/>
            <a:ext cx="7132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/>
              <a:t>+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23A"/>
                </a:solidFill>
                <a:latin typeface="Aptos"/>
              </a:rPr>
              <a:t>11. Inferenza: dalla SNN al movimento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8600" y="173736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764792"/>
            <a:ext cx="132588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23A"/>
                </a:solidFill>
                <a:latin typeface="Aptos"/>
              </a:rPr>
              <a:t>Camera
RGB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45920" y="2221992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920240" y="173736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65960" y="1764792"/>
            <a:ext cx="132588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23A"/>
                </a:solidFill>
                <a:latin typeface="Aptos"/>
              </a:rPr>
              <a:t>SNN
20 step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37560" y="2221992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611880" y="173736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132588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23A"/>
                </a:solidFill>
                <a:latin typeface="Aptos"/>
              </a:rPr>
              <a:t>Membrane
potential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0" y="2221992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03520" y="173736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96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49240" y="1764792"/>
            <a:ext cx="132588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23A"/>
                </a:solidFill>
                <a:latin typeface="Aptos"/>
              </a:rPr>
              <a:t>Softmax
5 classi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20840" y="2221992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995160" y="173736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0" y="1764792"/>
            <a:ext cx="132588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23A"/>
                </a:solidFill>
                <a:latin typeface="Aptos"/>
              </a:rPr>
              <a:t>Posizione
continua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0" y="2221992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0" y="173736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32520" y="1764792"/>
            <a:ext cx="132588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23A"/>
                </a:solidFill>
                <a:latin typeface="Aptos"/>
              </a:rPr>
              <a:t>Smoothing
5 predizioni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04120" y="2221992"/>
            <a:ext cx="246888" cy="0"/>
          </a:xfrm>
          <a:prstGeom prst="line">
            <a:avLst/>
          </a:prstGeom>
          <a:ln w="2540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378440" y="1737360"/>
            <a:ext cx="14173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424160" y="1764792"/>
            <a:ext cx="132588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4223A"/>
                </a:solidFill>
                <a:latin typeface="Aptos"/>
              </a:rPr>
              <a:t>Ruote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07308" y="3360421"/>
            <a:ext cx="132588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07308" y="3360421"/>
            <a:ext cx="13258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23A"/>
                </a:solidFill>
                <a:latin typeface="Aptos"/>
              </a:rPr>
              <a:t>FAR_LEFT  -1.0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16068" y="3360421"/>
            <a:ext cx="132588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16068" y="3360421"/>
            <a:ext cx="13258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23A"/>
                </a:solidFill>
                <a:latin typeface="Aptos"/>
              </a:rPr>
              <a:t>LEFT  -0.5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24828" y="3360421"/>
            <a:ext cx="132588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4828" y="3360421"/>
            <a:ext cx="13258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23A"/>
                </a:solidFill>
                <a:latin typeface="Aptos"/>
              </a:rPr>
              <a:t>CENTER  +0.0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3587" y="3360421"/>
            <a:ext cx="132588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33587" y="3360421"/>
            <a:ext cx="13258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23A"/>
                </a:solidFill>
                <a:latin typeface="Aptos"/>
              </a:rPr>
              <a:t>RIGHT  +0.5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42348" y="3360421"/>
            <a:ext cx="1325880" cy="384048"/>
          </a:xfrm>
          <a:prstGeom prst="roundRect">
            <a:avLst/>
          </a:prstGeom>
          <a:solidFill>
            <a:srgbClr val="EB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42348" y="3360421"/>
            <a:ext cx="1325880" cy="3657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4223A"/>
                </a:solidFill>
                <a:latin typeface="Aptos"/>
              </a:rPr>
              <a:t>FAR_RIGHT  +1.0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4860" y="4055366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dirty="0" err="1">
                <a:solidFill>
                  <a:srgbClr val="14223A"/>
                </a:solidFill>
                <a:latin typeface="Aptos"/>
              </a:rPr>
              <a:t>posizione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= Σ pᵢ ·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posizione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85975" y="4773058"/>
            <a:ext cx="8321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1F2937"/>
                </a:solidFill>
                <a:latin typeface="Aptos"/>
              </a:rPr>
              <a:t>rotation = −3.0 · </a:t>
            </a:r>
            <a:r>
              <a:rPr sz="1500" b="1" dirty="0" err="1">
                <a:solidFill>
                  <a:srgbClr val="1F2937"/>
                </a:solidFill>
                <a:latin typeface="Aptos"/>
              </a:rPr>
              <a:t>posizione_filtrata</a:t>
            </a:r>
            <a:r>
              <a:rPr sz="1500" b="1" dirty="0">
                <a:solidFill>
                  <a:srgbClr val="1F2937"/>
                </a:solidFill>
                <a:latin typeface="Aptos"/>
              </a:rPr>
              <a:t>   •   </a:t>
            </a:r>
            <a:r>
              <a:rPr sz="1500" b="1" dirty="0" err="1">
                <a:solidFill>
                  <a:srgbClr val="1F2937"/>
                </a:solidFill>
                <a:latin typeface="Aptos"/>
              </a:rPr>
              <a:t>saturazione</a:t>
            </a:r>
            <a:r>
              <a:rPr sz="1500" b="1" dirty="0">
                <a:solidFill>
                  <a:srgbClr val="1F2937"/>
                </a:solidFill>
                <a:latin typeface="Aptos"/>
              </a:rPr>
              <a:t> ±4.5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65960" y="5317353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5C6775"/>
                </a:solidFill>
                <a:latin typeface="Aptos"/>
              </a:rPr>
              <a:t>La </a:t>
            </a:r>
            <a:r>
              <a:rPr sz="1400" b="0" dirty="0" err="1">
                <a:solidFill>
                  <a:srgbClr val="5C6775"/>
                </a:solidFill>
                <a:latin typeface="Aptos"/>
              </a:rPr>
              <a:t>distribuzione</a:t>
            </a:r>
            <a:r>
              <a:rPr sz="1400" b="0" dirty="0">
                <a:solidFill>
                  <a:srgbClr val="5C6775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C6775"/>
                </a:solidFill>
                <a:latin typeface="Aptos"/>
              </a:rPr>
              <a:t>sulle</a:t>
            </a:r>
            <a:r>
              <a:rPr sz="1400" b="0" dirty="0">
                <a:solidFill>
                  <a:srgbClr val="5C6775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C6775"/>
                </a:solidFill>
                <a:latin typeface="Aptos"/>
              </a:rPr>
              <a:t>classi</a:t>
            </a:r>
            <a:r>
              <a:rPr sz="1400" b="0" dirty="0">
                <a:solidFill>
                  <a:srgbClr val="5C6775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C6775"/>
                </a:solidFill>
                <a:latin typeface="Aptos"/>
              </a:rPr>
              <a:t>viene</a:t>
            </a:r>
            <a:r>
              <a:rPr sz="1400" b="0" dirty="0">
                <a:solidFill>
                  <a:srgbClr val="5C6775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C6775"/>
                </a:solidFill>
                <a:latin typeface="Aptos"/>
              </a:rPr>
              <a:t>trasformata</a:t>
            </a:r>
            <a:r>
              <a:rPr sz="1400" b="0" dirty="0">
                <a:solidFill>
                  <a:srgbClr val="5C6775"/>
                </a:solidFill>
                <a:latin typeface="Aptos"/>
              </a:rPr>
              <a:t> in un </a:t>
            </a:r>
            <a:r>
              <a:rPr sz="1400" b="0" dirty="0" err="1">
                <a:solidFill>
                  <a:srgbClr val="5C6775"/>
                </a:solidFill>
                <a:latin typeface="Aptos"/>
              </a:rPr>
              <a:t>errore</a:t>
            </a:r>
            <a:r>
              <a:rPr sz="1400" b="0" dirty="0">
                <a:solidFill>
                  <a:srgbClr val="5C6775"/>
                </a:solidFill>
                <a:latin typeface="Aptos"/>
              </a:rPr>
              <a:t> </a:t>
            </a:r>
            <a:r>
              <a:rPr sz="1400" b="0" dirty="0" err="1">
                <a:solidFill>
                  <a:srgbClr val="5C6775"/>
                </a:solidFill>
                <a:latin typeface="Aptos"/>
              </a:rPr>
              <a:t>laterale</a:t>
            </a:r>
            <a:r>
              <a:rPr sz="1400" b="0" dirty="0">
                <a:solidFill>
                  <a:srgbClr val="5C6775"/>
                </a:solidFill>
                <a:latin typeface="Aptos"/>
              </a:rPr>
              <a:t> continuo.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12</a:t>
            </a:r>
          </a:p>
        </p:txBody>
      </p:sp>
      <p:pic>
        <p:nvPicPr>
          <p:cNvPr id="39" name="Immagine 38">
            <a:extLst>
              <a:ext uri="{FF2B5EF4-FFF2-40B4-BE49-F238E27FC236}">
                <a16:creationId xmlns:a16="http://schemas.microsoft.com/office/drawing/2014/main" id="{54EEE1FD-4741-3071-2F84-90651E3DC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86" y="3296299"/>
            <a:ext cx="2371550" cy="26702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4223A"/>
                </a:solidFill>
                <a:latin typeface="Aptos"/>
              </a:rPr>
              <a:t>12. Ruolo di OpenCV e della SNN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2331720" cy="502920"/>
          </a:xfrm>
          <a:prstGeom prst="round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Aspetto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325880"/>
            <a:ext cx="3886200" cy="502920"/>
          </a:xfrm>
          <a:prstGeom prst="roundRect">
            <a:avLst/>
          </a:prstGeom>
          <a:solidFill>
            <a:srgbClr val="2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1371600"/>
            <a:ext cx="3886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OpenCV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325880"/>
            <a:ext cx="4297680" cy="502920"/>
          </a:xfrm>
          <a:prstGeom prst="round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37160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SNN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901952"/>
            <a:ext cx="2331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975104"/>
            <a:ext cx="2185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901952"/>
            <a:ext cx="3886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82112" y="1975104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Camera RGB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901952"/>
            <a:ext cx="4297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88352" y="1975104"/>
            <a:ext cx="41513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Camera RGB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404872"/>
            <a:ext cx="233172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2478024"/>
            <a:ext cx="2185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Elaborazione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08960" y="2404872"/>
            <a:ext cx="388620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82112" y="2478024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HSV + contorni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404872"/>
            <a:ext cx="429768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88352" y="2478024"/>
            <a:ext cx="41513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Rate coding + LIF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907792"/>
            <a:ext cx="2331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2980944"/>
            <a:ext cx="2185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Training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2907792"/>
            <a:ext cx="3886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82112" y="2980944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Non necessario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2907792"/>
            <a:ext cx="4297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88352" y="2980944"/>
            <a:ext cx="41513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Supervisionato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3410712"/>
            <a:ext cx="233172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" y="3483864"/>
            <a:ext cx="2185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Label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08960" y="3410712"/>
            <a:ext cx="388620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82112" y="3483864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0" y="3410712"/>
            <a:ext cx="429768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88352" y="3483864"/>
            <a:ext cx="41513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Generate dal teacher OpenCV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3913632"/>
            <a:ext cx="2331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" y="3986784"/>
            <a:ext cx="2185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Temporalità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08960" y="3913632"/>
            <a:ext cx="3886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82112" y="3986784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Loop di controllo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3913632"/>
            <a:ext cx="4297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388352" y="3986784"/>
            <a:ext cx="41513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20 timestep + smoothing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" y="4416552"/>
            <a:ext cx="233172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" y="4489704"/>
            <a:ext cx="2185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Interpretabilità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4416552"/>
            <a:ext cx="388620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82112" y="4489704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Alta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4416552"/>
            <a:ext cx="429768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388352" y="4489704"/>
            <a:ext cx="41513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Media / inferiore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4919472"/>
            <a:ext cx="23317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67512" y="4992624"/>
            <a:ext cx="2185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Bioispirazione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08960" y="4919472"/>
            <a:ext cx="38862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182112" y="4992624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Comportamentale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4919472"/>
            <a:ext cx="42976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388352" y="4992624"/>
            <a:ext cx="41513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Comportamentale + computazionale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5422392"/>
            <a:ext cx="233172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67512" y="5495544"/>
            <a:ext cx="218541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2937"/>
                </a:solidFill>
                <a:latin typeface="Aptos"/>
              </a:rPr>
              <a:t>Hardware neuromorfico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08960" y="5422392"/>
            <a:ext cx="388620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182112" y="5495544"/>
            <a:ext cx="37398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Non specifico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0" y="5422392"/>
            <a:ext cx="4297680" cy="457200"/>
          </a:xfrm>
          <a:prstGeom prst="rect">
            <a:avLst/>
          </a:prstGeom>
          <a:solidFill>
            <a:srgbClr val="F1F4F8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388352" y="5495544"/>
            <a:ext cx="41513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Aptos"/>
              </a:rPr>
              <a:t>Potenzialmente adatto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8680" y="6080760"/>
            <a:ext cx="10424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14223A"/>
                </a:solidFill>
                <a:latin typeface="Aptos"/>
              </a:rPr>
              <a:t>OpenCV ha il ruolo di teacher nella fase di dataset generation; la SNN è il modello che deve ricreare il comportamento durante il controllo.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47395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77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7315200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800" b="1">
                <a:solidFill>
                  <a:srgbClr val="122644"/>
                </a:solidFill>
                <a:latin typeface="Aptos"/>
              </a:rPr>
              <a:t>13. Valutazione sperimentale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758952"/>
            <a:ext cx="960120" cy="41148"/>
          </a:xfrm>
          <a:prstGeom prst="rect">
            <a:avLst/>
          </a:prstGeom>
          <a:solidFill>
            <a:srgbClr val="269A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9963" y="846688"/>
            <a:ext cx="1226618" cy="4462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1150" b="0" dirty="0">
                <a:solidFill>
                  <a:srgbClr val="506074"/>
                </a:solidFill>
                <a:latin typeface="Aptos"/>
              </a:rPr>
              <a:t>evaluate_snn.py</a:t>
            </a:r>
          </a:p>
          <a:p>
            <a:pPr algn="l"/>
            <a:endParaRPr sz="1150" b="0" dirty="0">
              <a:solidFill>
                <a:srgbClr val="506074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2648" y="1298448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68580" cy="1517904"/>
          </a:xfrm>
          <a:prstGeom prst="rect">
            <a:avLst/>
          </a:prstGeom>
          <a:solidFill>
            <a:srgbClr val="348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" y="1353312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353312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348F57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335024"/>
            <a:ext cx="2286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2644"/>
                </a:solidFill>
                <a:latin typeface="Aptos"/>
              </a:rPr>
              <a:t>Success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645920"/>
            <a:ext cx="23774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06074"/>
                </a:solidFill>
                <a:latin typeface="Aptos"/>
              </a:rPr>
              <a:t>prove complete / prove totali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029968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700" b="1" dirty="0">
                <a:solidFill>
                  <a:srgbClr val="348F57"/>
                </a:solidFill>
                <a:latin typeface="Aptos"/>
              </a:rPr>
              <a:t>96,93</a:t>
            </a:r>
            <a:r>
              <a:rPr sz="2200" b="1" dirty="0">
                <a:solidFill>
                  <a:srgbClr val="348F57"/>
                </a:solidFill>
                <a:latin typeface="Aptos"/>
              </a:rPr>
              <a:t>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423160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33248"/>
                </a:solidFill>
                <a:latin typeface="Aptos"/>
              </a:rPr>
              <a:t>(media ± dev. std.)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67004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 dirty="0">
                <a:solidFill>
                  <a:srgbClr val="348F57"/>
                </a:solidFill>
                <a:latin typeface="Aptos"/>
              </a:rPr>
              <a:t>Range: 95,81% – 99,81%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7116" y="1325880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11396" y="1325880"/>
            <a:ext cx="45720" cy="1490472"/>
          </a:xfrm>
          <a:prstGeom prst="rect">
            <a:avLst/>
          </a:prstGeom>
          <a:solidFill>
            <a:srgbClr val="296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89704" y="1353312"/>
            <a:ext cx="658368" cy="658368"/>
          </a:xfrm>
          <a:prstGeom prst="ellipse">
            <a:avLst/>
          </a:prstGeom>
          <a:solidFill>
            <a:srgbClr val="F6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9704" y="1353312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2967B7"/>
                </a:solidFill>
                <a:latin typeface="Aptos"/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3248" y="1335024"/>
            <a:ext cx="2286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2644"/>
                </a:solidFill>
                <a:latin typeface="Aptos"/>
              </a:rPr>
              <a:t>Errore laterale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1645920"/>
            <a:ext cx="23774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06074"/>
                </a:solidFill>
                <a:latin typeface="Aptos"/>
              </a:rPr>
              <a:t>media di |e| durante il percorso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3248" y="2029968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700" b="1">
                <a:solidFill>
                  <a:srgbClr val="2967B7"/>
                </a:solidFill>
                <a:latin typeface="Aptos"/>
              </a:rPr>
              <a:t>0,187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2423160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33248"/>
                </a:solidFill>
                <a:latin typeface="Aptos"/>
              </a:rPr>
              <a:t>(media ± dev. std.)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267004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967B7"/>
                </a:solidFill>
                <a:latin typeface="Aptos"/>
              </a:rPr>
              <a:t>Range: 0,167 – 0,206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78724" y="1335024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78724" y="1325880"/>
            <a:ext cx="64008" cy="1490472"/>
          </a:xfrm>
          <a:prstGeom prst="rect">
            <a:avLst/>
          </a:prstGeom>
          <a:solidFill>
            <a:srgbClr val="209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75320" y="1353312"/>
            <a:ext cx="658368" cy="658368"/>
          </a:xfrm>
          <a:prstGeom prst="ellipse">
            <a:avLst/>
          </a:prstGeom>
          <a:solidFill>
            <a:srgbClr val="ED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1353312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2097A6"/>
                </a:solidFill>
                <a:latin typeface="Aptos"/>
              </a:rPr>
              <a:t>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98864" y="1335024"/>
            <a:ext cx="2286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2644"/>
                </a:solidFill>
                <a:latin typeface="Aptos"/>
              </a:rPr>
              <a:t>Tempo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98864" y="1645920"/>
            <a:ext cx="23774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06074"/>
                </a:solidFill>
                <a:latin typeface="Aptos"/>
              </a:rPr>
              <a:t>tempo di completamento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98864" y="2029968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700" b="1">
                <a:solidFill>
                  <a:srgbClr val="2097A6"/>
                </a:solidFill>
                <a:latin typeface="Aptos"/>
              </a:rPr>
              <a:t>61,52</a:t>
            </a:r>
            <a:r>
              <a:rPr sz="2200" b="1">
                <a:solidFill>
                  <a:srgbClr val="2097A6"/>
                </a:solidFill>
                <a:latin typeface="Aptos"/>
              </a:rPr>
              <a:t>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4" y="2423160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33248"/>
                </a:solidFill>
                <a:latin typeface="Aptos"/>
              </a:rPr>
              <a:t>(media ± dev. std.)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98864" y="2670048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2097A6"/>
                </a:solidFill>
                <a:latin typeface="Aptos"/>
              </a:rPr>
              <a:t>Range: 61,39 s – 61,78 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3005628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02920" y="3054096"/>
            <a:ext cx="45719" cy="1463040"/>
          </a:xfrm>
          <a:prstGeom prst="rect">
            <a:avLst/>
          </a:prstGeom>
          <a:solidFill>
            <a:srgbClr val="D73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704088" y="3054096"/>
            <a:ext cx="658368" cy="6583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04088" y="3054096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D73E3A"/>
                </a:solidFill>
                <a:latin typeface="Aptos"/>
              </a:rPr>
              <a:t>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7632" y="3035808"/>
            <a:ext cx="2286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2644"/>
                </a:solidFill>
                <a:latin typeface="Aptos"/>
              </a:rPr>
              <a:t>Perdite trail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7632" y="3346704"/>
            <a:ext cx="23774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06074"/>
                </a:solidFill>
                <a:latin typeface="Aptos"/>
              </a:rPr>
              <a:t>numero di uscite dalla traccia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7632" y="3730752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700" b="1" dirty="0">
                <a:solidFill>
                  <a:srgbClr val="D73E3A"/>
                </a:solidFill>
                <a:latin typeface="Aptos"/>
              </a:rPr>
              <a:t>3,07</a:t>
            </a:r>
            <a:r>
              <a:rPr sz="2200" b="1" dirty="0">
                <a:solidFill>
                  <a:srgbClr val="D73E3A"/>
                </a:solidFill>
                <a:latin typeface="Aptos"/>
              </a:rPr>
              <a:t>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" y="4123944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33248"/>
                </a:solidFill>
                <a:latin typeface="Aptos"/>
              </a:rPr>
              <a:t>(media ± dev. std.)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7632" y="4370832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D73E3A"/>
                </a:solidFill>
                <a:latin typeface="Aptos"/>
              </a:rPr>
              <a:t>Range: 0,19% – 6,19%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88536" y="2999232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288536" y="3054096"/>
            <a:ext cx="45719" cy="1463040"/>
          </a:xfrm>
          <a:prstGeom prst="rect">
            <a:avLst/>
          </a:prstGeom>
          <a:solidFill>
            <a:srgbClr val="E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489704" y="3054096"/>
            <a:ext cx="658368" cy="658368"/>
          </a:xfrm>
          <a:prstGeom prst="ellipse">
            <a:avLst/>
          </a:prstGeom>
          <a:solidFill>
            <a:srgbClr val="FFFF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89704" y="3054096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EF9100"/>
                </a:solidFill>
                <a:latin typeface="Aptos"/>
              </a:rPr>
              <a:t>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13248" y="3035808"/>
            <a:ext cx="2286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2644"/>
                </a:solidFill>
                <a:latin typeface="Aptos"/>
              </a:rPr>
              <a:t>Recupero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13248" y="3346704"/>
            <a:ext cx="2377440" cy="2468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50" b="0">
                <a:solidFill>
                  <a:srgbClr val="506074"/>
                </a:solidFill>
                <a:latin typeface="Aptos"/>
              </a:rPr>
              <a:t>tempo per ritrovare il trail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13248" y="3730752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700" b="1">
                <a:solidFill>
                  <a:srgbClr val="EF9100"/>
                </a:solidFill>
                <a:latin typeface="Aptos"/>
              </a:rPr>
              <a:t>1,16</a:t>
            </a:r>
            <a:r>
              <a:rPr sz="2200" b="1">
                <a:solidFill>
                  <a:srgbClr val="EF9100"/>
                </a:solidFill>
                <a:latin typeface="Aptos"/>
              </a:rPr>
              <a:t> 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13248" y="4123944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33248"/>
                </a:solidFill>
                <a:latin typeface="Aptos"/>
              </a:rPr>
              <a:t>(media ± dev. std.)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13248" y="4370832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EF9100"/>
                </a:solidFill>
                <a:latin typeface="Aptos"/>
              </a:rPr>
              <a:t>Range: 0,14 s – 1,58 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78724" y="3008376"/>
            <a:ext cx="36118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E6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 flipH="1">
            <a:off x="8028433" y="3065064"/>
            <a:ext cx="45719" cy="1452072"/>
          </a:xfrm>
          <a:prstGeom prst="rect">
            <a:avLst/>
          </a:prstGeom>
          <a:solidFill>
            <a:srgbClr val="12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275320" y="3054096"/>
            <a:ext cx="658368" cy="658368"/>
          </a:xfrm>
          <a:prstGeom prst="ellips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275320" y="3054096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600" b="1">
                <a:solidFill>
                  <a:srgbClr val="122644"/>
                </a:solidFill>
                <a:latin typeface="Aptos"/>
              </a:rPr>
              <a:t>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98864" y="3035808"/>
            <a:ext cx="2286000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22644"/>
                </a:solidFill>
                <a:latin typeface="Aptos"/>
              </a:rPr>
              <a:t>Computazione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11996" y="3362928"/>
            <a:ext cx="2569934" cy="2693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it-IT" sz="1150" b="0" dirty="0">
                <a:solidFill>
                  <a:srgbClr val="506074"/>
                </a:solidFill>
                <a:latin typeface="Aptos"/>
              </a:rPr>
              <a:t>Frequenza di elaborazione</a:t>
            </a:r>
            <a:r>
              <a:rPr sz="1150" b="0" dirty="0">
                <a:solidFill>
                  <a:srgbClr val="506074"/>
                </a:solidFill>
                <a:latin typeface="Aptos"/>
              </a:rPr>
              <a:t>/ CPU-GPU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98864" y="3730752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2700" b="1">
                <a:solidFill>
                  <a:srgbClr val="122644"/>
                </a:solidFill>
                <a:latin typeface="Aptos"/>
              </a:rPr>
              <a:t>9,48</a:t>
            </a:r>
            <a:r>
              <a:rPr sz="2200" b="1">
                <a:solidFill>
                  <a:srgbClr val="122644"/>
                </a:solidFill>
                <a:latin typeface="Aptos"/>
              </a:rPr>
              <a:t> FPS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98864" y="4123944"/>
            <a:ext cx="2286000" cy="228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0">
                <a:solidFill>
                  <a:srgbClr val="233248"/>
                </a:solidFill>
                <a:latin typeface="Aptos"/>
              </a:rPr>
              <a:t>(media ± dev. std.)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98864" y="4370832"/>
            <a:ext cx="22860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50" b="1">
                <a:solidFill>
                  <a:srgbClr val="122644"/>
                </a:solidFill>
                <a:latin typeface="Aptos"/>
              </a:rPr>
              <a:t>Range: 8,48 – 10,15 FPS</a:t>
            </a:r>
          </a:p>
        </p:txBody>
      </p:sp>
      <p:graphicFrame>
        <p:nvGraphicFramePr>
          <p:cNvPr id="59" name="Table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2923396"/>
              </p:ext>
            </p:extLst>
          </p:nvPr>
        </p:nvGraphicFramePr>
        <p:xfrm>
          <a:off x="457200" y="4921296"/>
          <a:ext cx="11119104" cy="1629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2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52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6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Metrica</a:t>
                      </a:r>
                      <a:endParaRPr sz="16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45720" marR="45720" marT="9144" marB="9144">
                    <a:solidFill>
                      <a:srgbClr val="1226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Run 1</a:t>
                      </a:r>
                    </a:p>
                  </a:txBody>
                  <a:tcPr marL="45720" marR="45720" marT="9144" marB="9144">
                    <a:solidFill>
                      <a:srgbClr val="1226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Run 2</a:t>
                      </a:r>
                    </a:p>
                  </a:txBody>
                  <a:tcPr marL="45720" marR="45720" marT="9144" marB="9144">
                    <a:solidFill>
                      <a:srgbClr val="1226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Run 3</a:t>
                      </a:r>
                    </a:p>
                  </a:txBody>
                  <a:tcPr marL="45720" marR="45720" marT="9144" marB="9144">
                    <a:solidFill>
                      <a:srgbClr val="1226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Run 4</a:t>
                      </a:r>
                    </a:p>
                  </a:txBody>
                  <a:tcPr marL="45720" marR="45720" marT="9144" marB="9144">
                    <a:solidFill>
                      <a:srgbClr val="1226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Run 5</a:t>
                      </a:r>
                    </a:p>
                  </a:txBody>
                  <a:tcPr marL="45720" marR="45720" marT="9144" marB="9144">
                    <a:solidFill>
                      <a:srgbClr val="1226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Media</a:t>
                      </a:r>
                    </a:p>
                  </a:txBody>
                  <a:tcPr marL="45720" marR="45720" marT="9144" marB="9144">
                    <a:solidFill>
                      <a:srgbClr val="1226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Aptos"/>
                        </a:rPr>
                        <a:t>Dev. std.</a:t>
                      </a:r>
                    </a:p>
                  </a:txBody>
                  <a:tcPr marL="45720" marR="45720" marT="9144" marB="9144">
                    <a:solidFill>
                      <a:srgbClr val="1226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85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Success rate (%)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93,81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97,89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96,79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96,35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99,81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348F57"/>
                          </a:solidFill>
                          <a:latin typeface="Aptos"/>
                        </a:rPr>
                        <a:t>96,93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2,33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85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Errore laterale medio |e|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0,206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0,167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0,196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0,186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0,180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967B7"/>
                          </a:solidFill>
                          <a:latin typeface="Aptos"/>
                        </a:rPr>
                        <a:t>0,187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0,014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85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Tempo (s)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61,45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61,78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61,39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61,54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61,44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097A6"/>
                          </a:solidFill>
                          <a:latin typeface="Aptos"/>
                        </a:rPr>
                        <a:t>61,52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0,16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856">
                <a:tc>
                  <a:txBody>
                    <a:bodyPr/>
                    <a:lstStyle/>
                    <a:p>
                      <a:pPr algn="l"/>
                      <a:r>
                        <a:rPr lang="it-IT" sz="1400" b="0" dirty="0">
                          <a:solidFill>
                            <a:srgbClr val="233248"/>
                          </a:solidFill>
                          <a:latin typeface="Aptos"/>
                        </a:rPr>
                        <a:t>Fuori Pista</a:t>
                      </a:r>
                      <a:r>
                        <a:rPr sz="1400" b="0" dirty="0">
                          <a:solidFill>
                            <a:srgbClr val="233248"/>
                          </a:solidFill>
                          <a:latin typeface="Aptos"/>
                        </a:rPr>
                        <a:t>(%)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33248"/>
                          </a:solidFill>
                          <a:latin typeface="Aptos"/>
                        </a:rPr>
                        <a:t>6,19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2,11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3,21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3,65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0,19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D73E3A"/>
                          </a:solidFill>
                          <a:latin typeface="Aptos"/>
                        </a:rPr>
                        <a:t>3,07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2,11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85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Recupero (s)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1,58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1,22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1,37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1,49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0,14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EF9100"/>
                          </a:solidFill>
                          <a:latin typeface="Aptos"/>
                        </a:rPr>
                        <a:t>1,16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0,55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85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Computazione (FPS)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9,47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9,95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10,15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9,38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33248"/>
                          </a:solidFill>
                          <a:latin typeface="Aptos"/>
                        </a:rPr>
                        <a:t>8,48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22644"/>
                          </a:solidFill>
                          <a:latin typeface="Aptos"/>
                        </a:rPr>
                        <a:t>9,48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233248"/>
                          </a:solidFill>
                          <a:latin typeface="Aptos"/>
                        </a:rPr>
                        <a:t>0,60</a:t>
                      </a:r>
                    </a:p>
                  </a:txBody>
                  <a:tcPr marL="45720" marR="45720" marT="4572" marB="457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11292840" y="6620256"/>
            <a:ext cx="3200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50" b="0">
                <a:solidFill>
                  <a:srgbClr val="506074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2700" b="1" dirty="0">
                <a:solidFill>
                  <a:srgbClr val="14223A"/>
                </a:solidFill>
                <a:latin typeface="Aptos"/>
              </a:rPr>
              <a:t>14.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Conclusioni</a:t>
            </a:r>
            <a:endParaRPr sz="2700" b="1" dirty="0">
              <a:solidFill>
                <a:srgbClr val="14223A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775"/>
                </a:solidFill>
                <a:latin typeface="Aptos"/>
              </a:rPr>
              <a:t>Dal comportamento della formica al comportamento appreso dalla SNN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0625328" cy="1106424"/>
          </a:xfrm>
          <a:prstGeom prst="roundRect">
            <a:avLst/>
          </a:prstGeom>
          <a:solidFill>
            <a:srgbClr val="EDF9F9"/>
          </a:solidFill>
          <a:ln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3940" y="1371600"/>
            <a:ext cx="10104120" cy="10156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it-IT" sz="2000" b="1" dirty="0">
                <a:solidFill>
                  <a:srgbClr val="14223A"/>
                </a:solidFill>
                <a:latin typeface="Aptos"/>
              </a:rPr>
              <a:t>La SNN ha raggiunto un success rate medio di circa il 97%.</a:t>
            </a:r>
          </a:p>
          <a:p>
            <a:pPr algn="ctr"/>
            <a:r>
              <a:rPr sz="2000" b="1" dirty="0">
                <a:solidFill>
                  <a:srgbClr val="14223A"/>
                </a:solidFill>
                <a:latin typeface="Aptos"/>
              </a:rPr>
              <a:t>È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stato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sviluppato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un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sistema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bioispirato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in cui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una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SNN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apprende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a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ricreare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il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comportamento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di Trail Following di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una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2000" b="1" dirty="0" err="1">
                <a:solidFill>
                  <a:srgbClr val="14223A"/>
                </a:solidFill>
                <a:latin typeface="Aptos"/>
              </a:rPr>
              <a:t>formica</a:t>
            </a:r>
            <a:r>
              <a:rPr sz="2000" b="1" dirty="0">
                <a:solidFill>
                  <a:srgbClr val="14223A"/>
                </a:solidFill>
                <a:latin typeface="Aptos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73152" cy="2057400"/>
          </a:xfrm>
          <a:prstGeom prst="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293522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23A"/>
                </a:solidFill>
                <a:latin typeface="Aptos"/>
              </a:rPr>
              <a:t>1. Comportamento bioispirato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355848"/>
            <a:ext cx="3081528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F2937"/>
                </a:solidFill>
                <a:latin typeface="Aptos"/>
              </a:rPr>
              <a:t>Il problema biologico è stato trasformato in una catena artificiale:
percezione → elaborazione → decisione → movimento.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7889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2788920"/>
            <a:ext cx="73152" cy="205740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293522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223A"/>
                </a:solidFill>
                <a:latin typeface="Aptos"/>
              </a:rPr>
              <a:t>2. Apprendimento con SNN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355848"/>
            <a:ext cx="3081528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>
                <a:solidFill>
                  <a:srgbClr val="1F2937"/>
                </a:solidFill>
                <a:latin typeface="Aptos"/>
              </a:rPr>
              <a:t>Le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immagini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vengono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codificate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in spike e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processate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da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neuroni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LIF.
La rete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apprende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la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posizione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del trail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tramite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training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supervisionato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788920"/>
            <a:ext cx="34290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38160" y="2788920"/>
            <a:ext cx="73152" cy="2057400"/>
          </a:xfrm>
          <a:prstGeom prst="rect">
            <a:avLst/>
          </a:prstGeom>
          <a:solidFill>
            <a:srgbClr val="2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293522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14223A"/>
                </a:solidFill>
                <a:latin typeface="Aptos"/>
              </a:rPr>
              <a:t>3. OpenCV come Teacher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355848"/>
            <a:ext cx="3081528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dirty="0">
                <a:solidFill>
                  <a:srgbClr val="1F2937"/>
                </a:solidFill>
                <a:latin typeface="Aptos"/>
              </a:rPr>
              <a:t>OpenCV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viene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utilizzato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per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generare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automaticamente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le label.
La SNN è poi il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modello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che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deve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riprodurre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il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comportamento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Aptos"/>
              </a:rPr>
              <a:t>appreso</a:t>
            </a:r>
            <a:r>
              <a:rPr sz="1350" b="0" dirty="0">
                <a:solidFill>
                  <a:srgbClr val="1F2937"/>
                </a:solidFill>
                <a:latin typeface="Aptos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" y="5330952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rgbClr val="5C6775"/>
                </a:solidFill>
                <a:latin typeface="Aptos"/>
              </a:rPr>
              <a:t>RISULTATO CONCETTUALE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260363"/>
            <a:ext cx="734263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dirty="0">
                <a:solidFill>
                  <a:srgbClr val="14223A"/>
                </a:solidFill>
                <a:latin typeface="Aptos"/>
              </a:rPr>
              <a:t>OpenCV </a:t>
            </a:r>
            <a:r>
              <a:rPr sz="2100" b="1" dirty="0" err="1">
                <a:solidFill>
                  <a:srgbClr val="14223A"/>
                </a:solidFill>
                <a:latin typeface="Aptos"/>
              </a:rPr>
              <a:t>supervisiona</a:t>
            </a:r>
            <a:r>
              <a:rPr sz="2100" b="1" dirty="0">
                <a:solidFill>
                  <a:srgbClr val="14223A"/>
                </a:solidFill>
                <a:latin typeface="Aptos"/>
              </a:rPr>
              <a:t>  →  SNN </a:t>
            </a:r>
            <a:r>
              <a:rPr sz="2100" b="1" dirty="0" err="1">
                <a:solidFill>
                  <a:srgbClr val="14223A"/>
                </a:solidFill>
                <a:latin typeface="Aptos"/>
              </a:rPr>
              <a:t>apprende</a:t>
            </a:r>
            <a:r>
              <a:rPr sz="2100" b="1" dirty="0">
                <a:solidFill>
                  <a:srgbClr val="14223A"/>
                </a:solidFill>
                <a:latin typeface="Aptos"/>
              </a:rPr>
              <a:t>  →  Robot </a:t>
            </a:r>
            <a:r>
              <a:rPr sz="2100" b="1" dirty="0" err="1">
                <a:solidFill>
                  <a:srgbClr val="14223A"/>
                </a:solidFill>
                <a:latin typeface="Aptos"/>
              </a:rPr>
              <a:t>esegue</a:t>
            </a:r>
            <a:endParaRPr sz="2100" b="1" dirty="0">
              <a:solidFill>
                <a:srgbClr val="14223A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9640" y="5971032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37825A"/>
                </a:solidFill>
                <a:latin typeface="Aptos"/>
              </a:rPr>
              <a:t>Il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passo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successivo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 è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portare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questo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paradigma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 da un semplice trail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artificiale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 verso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percezione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 e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guida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autonoma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 in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ambienti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 </a:t>
            </a:r>
            <a:r>
              <a:rPr sz="1400" b="1" dirty="0" err="1">
                <a:solidFill>
                  <a:srgbClr val="37825A"/>
                </a:solidFill>
                <a:latin typeface="Aptos"/>
              </a:rPr>
              <a:t>reali</a:t>
            </a:r>
            <a:r>
              <a:rPr sz="1400" b="1" dirty="0">
                <a:solidFill>
                  <a:srgbClr val="37825A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it-IT" sz="2700" b="1" dirty="0">
                <a:solidFill>
                  <a:srgbClr val="14223A"/>
                </a:solidFill>
                <a:latin typeface="Aptos"/>
              </a:rPr>
              <a:t>15.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Sviluppi</a:t>
            </a:r>
            <a:r>
              <a:rPr sz="2700" b="1" dirty="0">
                <a:solidFill>
                  <a:srgbClr val="14223A"/>
                </a:solidFill>
                <a:latin typeface="Aptos"/>
              </a:rPr>
              <a:t> </a:t>
            </a:r>
            <a:r>
              <a:rPr sz="2700" b="1" dirty="0" err="1">
                <a:solidFill>
                  <a:srgbClr val="14223A"/>
                </a:solidFill>
                <a:latin typeface="Aptos"/>
              </a:rPr>
              <a:t>futuri</a:t>
            </a:r>
            <a:endParaRPr sz="2700" b="1" dirty="0">
              <a:solidFill>
                <a:srgbClr val="14223A"/>
              </a:solidFill>
              <a:latin typeface="Apto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886968"/>
            <a:ext cx="1005840" cy="45720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775"/>
                </a:solidFill>
                <a:latin typeface="Aptos"/>
              </a:rPr>
              <a:t>Dal trail following bioispirato verso sistemi autonomi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21488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36192"/>
            <a:ext cx="20574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23A"/>
                </a:solidFill>
                <a:latin typeface="Aptos"/>
              </a:rPr>
              <a:t>TRAIL FOLLOWING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508760"/>
            <a:ext cx="20574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39" y="1536192"/>
            <a:ext cx="196596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23A"/>
                </a:solidFill>
                <a:latin typeface="Aptos"/>
              </a:rPr>
              <a:t>PERCEZIONE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21488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159" y="1536192"/>
            <a:ext cx="20574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23A"/>
                </a:solidFill>
                <a:latin typeface="Aptos"/>
              </a:rPr>
              <a:t>DECISIONE SNN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0" y="1508760"/>
            <a:ext cx="214884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82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536192"/>
            <a:ext cx="2057400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14223A"/>
                </a:solidFill>
                <a:latin typeface="Aptos"/>
              </a:rPr>
              <a:t>CONTROLLO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1837943"/>
            <a:ext cx="502920" cy="0"/>
          </a:xfrm>
          <a:prstGeom prst="line">
            <a:avLst/>
          </a:prstGeom>
          <a:ln w="2286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303520" y="1837943"/>
            <a:ext cx="502920" cy="0"/>
          </a:xfrm>
          <a:prstGeom prst="line">
            <a:avLst/>
          </a:prstGeom>
          <a:ln w="2286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55279" y="1837943"/>
            <a:ext cx="502921" cy="0"/>
          </a:xfrm>
          <a:prstGeom prst="line">
            <a:avLst/>
          </a:prstGeom>
          <a:ln w="22860">
            <a:solidFill>
              <a:srgbClr val="5C6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274320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" y="2743200"/>
            <a:ext cx="64008" cy="1298448"/>
          </a:xfrm>
          <a:prstGeom prst="rect">
            <a:avLst/>
          </a:prstGeom>
          <a:solidFill>
            <a:srgbClr val="2C5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285292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23A"/>
                </a:solidFill>
                <a:latin typeface="Aptos"/>
              </a:rPr>
              <a:t>Guida autonoma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1868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Riconoscimento della strada
Mantenimento della corsia
Decisione della traiettoria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74320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2743200"/>
            <a:ext cx="64008" cy="1298448"/>
          </a:xfrm>
          <a:prstGeom prst="rect">
            <a:avLst/>
          </a:prstGeom>
          <a:solidFill>
            <a:srgbClr val="2C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0" y="285292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23A"/>
                </a:solidFill>
                <a:latin typeface="Aptos"/>
              </a:rPr>
              <a:t>Event-based 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21868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Event Camera
Elaborazione direttamente a spike
Riduzione della dipendenza dai frame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2743200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183880" y="2743200"/>
            <a:ext cx="64008" cy="1298448"/>
          </a:xfrm>
          <a:prstGeom prst="rect">
            <a:avLst/>
          </a:prstGeom>
          <a:solidFill>
            <a:srgbClr val="378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66760" y="2852928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23A"/>
                </a:solidFill>
                <a:latin typeface="Aptos"/>
              </a:rPr>
              <a:t>Robot reale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218688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Trasferimento dalla simulazione all'hardware
Camera e motori reali
Test in ambiente fisico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315968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" y="4315968"/>
            <a:ext cx="64008" cy="1298448"/>
          </a:xfrm>
          <a:prstGeom prst="rect">
            <a:avLst/>
          </a:prstGeom>
          <a:solidFill>
            <a:srgbClr val="CD96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425696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23A"/>
                </a:solidFill>
                <a:latin typeface="Aptos"/>
              </a:rPr>
              <a:t>Hardware neuromorfico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791456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Esecuzione della SNN su hardware dedicato
Elaborazione event-driven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315968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389120" y="4315968"/>
            <a:ext cx="64008" cy="1298448"/>
          </a:xfrm>
          <a:prstGeom prst="rect">
            <a:avLst/>
          </a:prstGeom>
          <a:solidFill>
            <a:srgbClr val="CD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72000" y="4425696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23A"/>
                </a:solidFill>
                <a:latin typeface="Aptos"/>
              </a:rPr>
              <a:t>Apprendimento autonomo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791456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Online learning
Reinforcement learning
Adattamento a nuovi percorsi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315968"/>
            <a:ext cx="34290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83880" y="4315968"/>
            <a:ext cx="64008" cy="1298448"/>
          </a:xfrm>
          <a:prstGeom prst="rect">
            <a:avLst/>
          </a:prstGeom>
          <a:solidFill>
            <a:srgbClr val="14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66760" y="4425696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4223A"/>
                </a:solidFill>
                <a:latin typeface="Aptos"/>
              </a:rPr>
              <a:t>Swarm robotics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791456"/>
            <a:ext cx="301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F2937"/>
                </a:solidFill>
                <a:latin typeface="Aptos"/>
              </a:rPr>
              <a:t>Più robot bioispirati
Coordinamento tra agenti
Comportamento collettivo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989320"/>
            <a:ext cx="10332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4223A"/>
                </a:solidFill>
                <a:latin typeface="Aptos"/>
              </a:rPr>
              <a:t>Dal semplice trail following di una formica verso sistemi autonomi capaci di percepire, decidere e muoversi in ambienti complessi.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1491</Words>
  <Application>Microsoft Office PowerPoint</Application>
  <PresentationFormat>Widescreen</PresentationFormat>
  <Paragraphs>306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Lato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claudio giacobbe</cp:lastModifiedBy>
  <cp:revision>18</cp:revision>
  <dcterms:created xsi:type="dcterms:W3CDTF">2013-01-27T09:14:16Z</dcterms:created>
  <dcterms:modified xsi:type="dcterms:W3CDTF">2026-08-16T11:06:08Z</dcterms:modified>
  <cp:category/>
</cp:coreProperties>
</file>